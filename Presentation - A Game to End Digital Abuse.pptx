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x="18288000" cy="10287000"/>
  <p:notesSz cx="6858000" cy="9144000"/>
  <p:embeddedFontLst>
    <p:embeddedFont>
      <p:font typeface="Georgia Pro Condensed Light" charset="1" panose="02040306050405020303"/>
      <p:regular r:id="rId22"/>
    </p:embeddedFont>
    <p:embeddedFont>
      <p:font typeface="TT Interphases Bold" charset="1" panose="02000803060000020004"/>
      <p:regular r:id="rId23"/>
    </p:embeddedFont>
    <p:embeddedFont>
      <p:font typeface="Georgia Pro Condensed Bold" charset="1" panose="02040806050405020203"/>
      <p:regular r:id="rId24"/>
    </p:embeddedFont>
    <p:embeddedFont>
      <p:font typeface="TT Interphases" charset="1" panose="02000503020000020004"/>
      <p:regular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jpeg" Type="http://schemas.openxmlformats.org/officeDocument/2006/relationships/image"/><Relationship Id="rId3" Target="../media/image8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Relationship Id="rId3" Target="../media/image10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Relationship Id="rId3" Target="../media/image12.jpeg" Type="http://schemas.openxmlformats.org/officeDocument/2006/relationships/image"/><Relationship Id="rId4" Target="../media/image13.jpe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jpe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jpeg" Type="http://schemas.openxmlformats.org/officeDocument/2006/relationships/image"/><Relationship Id="rId3" Target="../media/image2.jpeg" Type="http://schemas.openxmlformats.org/officeDocument/2006/relationships/image"/><Relationship Id="rId4" Target="../media/image9.jpe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jpe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jpeg" Type="http://schemas.openxmlformats.org/officeDocument/2006/relationships/image"/><Relationship Id="rId3" Target="https://hackathon-group-46-qfcde12ei-akoi100s-projects.vercel.app" TargetMode="External" Type="http://schemas.openxmlformats.org/officeDocument/2006/relationships/hyperlink"/><Relationship Id="rId4" Target="../media/image18.png" Type="http://schemas.openxmlformats.org/officeDocument/2006/relationships/image"/><Relationship Id="rId5" Target="../media/image19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345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813256" y="1562100"/>
            <a:ext cx="7807994" cy="8724900"/>
            <a:chOff x="0" y="0"/>
            <a:chExt cx="2245808" cy="250953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45808" cy="2509537"/>
            </a:xfrm>
            <a:custGeom>
              <a:avLst/>
              <a:gdLst/>
              <a:ahLst/>
              <a:cxnLst/>
              <a:rect r="r" b="b" t="t" l="l"/>
              <a:pathLst>
                <a:path h="2509537" w="2245808">
                  <a:moveTo>
                    <a:pt x="0" y="0"/>
                  </a:moveTo>
                  <a:lnTo>
                    <a:pt x="2245808" y="0"/>
                  </a:lnTo>
                  <a:lnTo>
                    <a:pt x="2245808" y="2509537"/>
                  </a:lnTo>
                  <a:lnTo>
                    <a:pt x="0" y="2509537"/>
                  </a:lnTo>
                  <a:close/>
                </a:path>
              </a:pathLst>
            </a:custGeom>
            <a:blipFill>
              <a:blip r:embed="rId2"/>
              <a:stretch>
                <a:fillRect l="-5173" t="0" r="-5173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666750" y="2257624"/>
            <a:ext cx="8477250" cy="6045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16"/>
              </a:lnSpc>
            </a:pPr>
            <a:r>
              <a:rPr lang="en-US" sz="5014">
                <a:solidFill>
                  <a:srgbClr val="D8D7CC"/>
                </a:solidFill>
                <a:latin typeface="Georgia Pro Condensed Light"/>
                <a:ea typeface="Georgia Pro Condensed Light"/>
                <a:cs typeface="Georgia Pro Condensed Light"/>
                <a:sym typeface="Georgia Pro Condensed Light"/>
              </a:rPr>
              <a:t> OUR PROJECT: SkillUp Safe</a:t>
            </a:r>
          </a:p>
          <a:p>
            <a:pPr algn="l">
              <a:lnSpc>
                <a:spcPts val="5516"/>
              </a:lnSpc>
            </a:pPr>
          </a:p>
          <a:p>
            <a:pPr algn="l">
              <a:lnSpc>
                <a:spcPts val="4526"/>
              </a:lnSpc>
            </a:pPr>
            <a:r>
              <a:rPr lang="en-US" sz="4114">
                <a:solidFill>
                  <a:srgbClr val="D8D7CC"/>
                </a:solidFill>
                <a:latin typeface="Georgia Pro Condensed Light"/>
                <a:ea typeface="Georgia Pro Condensed Light"/>
                <a:cs typeface="Georgia Pro Condensed Light"/>
                <a:sym typeface="Georgia Pro Condensed Light"/>
              </a:rPr>
              <a:t>A gamified platform empowering women and girls to stay safe online.</a:t>
            </a:r>
          </a:p>
          <a:p>
            <a:pPr algn="l">
              <a:lnSpc>
                <a:spcPts val="5516"/>
              </a:lnSpc>
            </a:pPr>
          </a:p>
          <a:p>
            <a:pPr algn="l">
              <a:lnSpc>
                <a:spcPts val="5516"/>
              </a:lnSpc>
            </a:pPr>
            <a:r>
              <a:rPr lang="en-US" sz="5014">
                <a:solidFill>
                  <a:srgbClr val="D8D7CC"/>
                </a:solidFill>
                <a:latin typeface="Georgia Pro Condensed Light"/>
                <a:ea typeface="Georgia Pro Condensed Light"/>
                <a:cs typeface="Georgia Pro Condensed Light"/>
                <a:sym typeface="Georgia Pro Condensed Light"/>
              </a:rPr>
              <a:t>Team: Group 46</a:t>
            </a:r>
          </a:p>
          <a:p>
            <a:pPr algn="l">
              <a:lnSpc>
                <a:spcPts val="5516"/>
              </a:lnSpc>
            </a:pPr>
          </a:p>
          <a:p>
            <a:pPr algn="l" marL="0" indent="0" lvl="0">
              <a:lnSpc>
                <a:spcPts val="5516"/>
              </a:lnSpc>
            </a:pPr>
            <a:r>
              <a:rPr lang="en-US" sz="5014">
                <a:solidFill>
                  <a:srgbClr val="D8D7CC"/>
                </a:solidFill>
                <a:latin typeface="Georgia Pro Condensed Light"/>
                <a:ea typeface="Georgia Pro Condensed Light"/>
                <a:cs typeface="Georgia Pro Condensed Light"/>
                <a:sym typeface="Georgia Pro Condensed Light"/>
              </a:rPr>
              <a:t>“Digital Literacy for All. Safety for Everyone.</a:t>
            </a:r>
          </a:p>
        </p:txBody>
      </p:sp>
      <p:sp>
        <p:nvSpPr>
          <p:cNvPr name="AutoShape 5" id="5"/>
          <p:cNvSpPr/>
          <p:nvPr/>
        </p:nvSpPr>
        <p:spPr>
          <a:xfrm>
            <a:off x="666750" y="1263650"/>
            <a:ext cx="16954500" cy="0"/>
          </a:xfrm>
          <a:prstGeom prst="line">
            <a:avLst/>
          </a:prstGeom>
          <a:ln cap="flat" w="9525">
            <a:solidFill>
              <a:srgbClr val="D8D7C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6" id="6"/>
          <p:cNvSpPr txBox="true"/>
          <p:nvPr/>
        </p:nvSpPr>
        <p:spPr>
          <a:xfrm rot="0">
            <a:off x="666750" y="742950"/>
            <a:ext cx="16954500" cy="5543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199"/>
              </a:lnSpc>
            </a:pPr>
            <a:r>
              <a:rPr lang="en-US" b="true" sz="4199">
                <a:solidFill>
                  <a:srgbClr val="A2B38A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THEME: DIGITAL LITERACY 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E2A9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629202" y="1981220"/>
            <a:ext cx="10574892" cy="64349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55186" indent="-477593" lvl="1">
              <a:lnSpc>
                <a:spcPts val="4645"/>
              </a:lnSpc>
              <a:buFont typeface="Arial"/>
              <a:buChar char="•"/>
            </a:pPr>
            <a:r>
              <a:rPr lang="en-US" sz="4424">
                <a:solidFill>
                  <a:srgbClr val="000000"/>
                </a:solidFill>
                <a:latin typeface="Georgia Pro Condensed Light"/>
                <a:ea typeface="Georgia Pro Condensed Light"/>
                <a:cs typeface="Georgia Pro Condensed Light"/>
                <a:sym typeface="Georgia Pro Condensed Light"/>
              </a:rPr>
              <a:t>D'vock Akoi - Project Lead/System Manager</a:t>
            </a:r>
          </a:p>
          <a:p>
            <a:pPr algn="l">
              <a:lnSpc>
                <a:spcPts val="4645"/>
              </a:lnSpc>
            </a:pPr>
          </a:p>
          <a:p>
            <a:pPr algn="l" marL="955186" indent="-477593" lvl="1">
              <a:lnSpc>
                <a:spcPts val="4645"/>
              </a:lnSpc>
              <a:buFont typeface="Arial"/>
              <a:buChar char="•"/>
            </a:pPr>
            <a:r>
              <a:rPr lang="en-US" sz="4424">
                <a:solidFill>
                  <a:srgbClr val="000000"/>
                </a:solidFill>
                <a:latin typeface="Georgia Pro Condensed Light"/>
                <a:ea typeface="Georgia Pro Condensed Light"/>
                <a:cs typeface="Georgia Pro Condensed Light"/>
                <a:sym typeface="Georgia Pro Condensed Light"/>
              </a:rPr>
              <a:t>Abigael Cheptoo - Presentation/Pitch Deck</a:t>
            </a:r>
          </a:p>
          <a:p>
            <a:pPr algn="l">
              <a:lnSpc>
                <a:spcPts val="4645"/>
              </a:lnSpc>
            </a:pPr>
          </a:p>
          <a:p>
            <a:pPr algn="l" marL="955186" indent="-477593" lvl="1">
              <a:lnSpc>
                <a:spcPts val="4645"/>
              </a:lnSpc>
              <a:buFont typeface="Arial"/>
              <a:buChar char="•"/>
            </a:pPr>
            <a:r>
              <a:rPr lang="en-US" sz="4424">
                <a:solidFill>
                  <a:srgbClr val="000000"/>
                </a:solidFill>
                <a:latin typeface="Georgia Pro Condensed Light"/>
                <a:ea typeface="Georgia Pro Condensed Light"/>
                <a:cs typeface="Georgia Pro Condensed Light"/>
                <a:sym typeface="Georgia Pro Condensed Light"/>
              </a:rPr>
              <a:t>Brian Kipchumba - Frontend Development</a:t>
            </a:r>
          </a:p>
          <a:p>
            <a:pPr algn="l">
              <a:lnSpc>
                <a:spcPts val="4645"/>
              </a:lnSpc>
            </a:pPr>
          </a:p>
          <a:p>
            <a:pPr algn="l" marL="955186" indent="-477593" lvl="1">
              <a:lnSpc>
                <a:spcPts val="4645"/>
              </a:lnSpc>
              <a:buFont typeface="Arial"/>
              <a:buChar char="•"/>
            </a:pPr>
            <a:r>
              <a:rPr lang="en-US" sz="4424">
                <a:solidFill>
                  <a:srgbClr val="000000"/>
                </a:solidFill>
                <a:latin typeface="Georgia Pro Condensed Light"/>
                <a:ea typeface="Georgia Pro Condensed Light"/>
                <a:cs typeface="Georgia Pro Condensed Light"/>
                <a:sym typeface="Georgia Pro Condensed Light"/>
              </a:rPr>
              <a:t>Dorcas Wanjiru - UI/UX Designer</a:t>
            </a:r>
          </a:p>
          <a:p>
            <a:pPr algn="l">
              <a:lnSpc>
                <a:spcPts val="4645"/>
              </a:lnSpc>
            </a:pPr>
          </a:p>
          <a:p>
            <a:pPr algn="l" marL="955186" indent="-477593" lvl="1">
              <a:lnSpc>
                <a:spcPts val="4645"/>
              </a:lnSpc>
              <a:buFont typeface="Arial"/>
              <a:buChar char="•"/>
            </a:pPr>
            <a:r>
              <a:rPr lang="en-US" sz="4424">
                <a:solidFill>
                  <a:srgbClr val="000000"/>
                </a:solidFill>
                <a:latin typeface="Georgia Pro Condensed Light"/>
                <a:ea typeface="Georgia Pro Condensed Light"/>
                <a:cs typeface="Georgia Pro Condensed Light"/>
                <a:sym typeface="Georgia Pro Condensed Light"/>
              </a:rPr>
              <a:t>Newton Kiogora - Content Planner</a:t>
            </a:r>
          </a:p>
          <a:p>
            <a:pPr algn="l">
              <a:lnSpc>
                <a:spcPts val="4645"/>
              </a:lnSpc>
            </a:pPr>
          </a:p>
          <a:p>
            <a:pPr algn="l" marL="955186" indent="-477593" lvl="1">
              <a:lnSpc>
                <a:spcPts val="4645"/>
              </a:lnSpc>
              <a:buFont typeface="Arial"/>
              <a:buChar char="•"/>
            </a:pPr>
            <a:r>
              <a:rPr lang="en-US" sz="4424">
                <a:solidFill>
                  <a:srgbClr val="000000"/>
                </a:solidFill>
                <a:latin typeface="Georgia Pro Condensed Light"/>
                <a:ea typeface="Georgia Pro Condensed Light"/>
                <a:cs typeface="Georgia Pro Condensed Light"/>
                <a:sym typeface="Georgia Pro Condensed Light"/>
              </a:rPr>
              <a:t>Abdulrahman Daud - Quality Assurance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4202260" y="857649"/>
            <a:ext cx="8802549" cy="7285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06"/>
              </a:lnSpc>
              <a:spcBef>
                <a:spcPct val="0"/>
              </a:spcBef>
            </a:pPr>
            <a:r>
              <a:rPr lang="en-US" b="true" sz="5244">
                <a:solidFill>
                  <a:srgbClr val="000000"/>
                </a:solidFill>
                <a:latin typeface="Georgia Pro Condensed Bold"/>
                <a:ea typeface="Georgia Pro Condensed Bold"/>
                <a:cs typeface="Georgia Pro Condensed Bold"/>
                <a:sym typeface="Georgia Pro Condensed Bold"/>
              </a:rPr>
              <a:t>OUR TEAM MEMBERS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2A9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508018" y="0"/>
            <a:ext cx="4574692" cy="4092388"/>
            <a:chOff x="0" y="0"/>
            <a:chExt cx="1883872" cy="168525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83872" cy="1685258"/>
            </a:xfrm>
            <a:custGeom>
              <a:avLst/>
              <a:gdLst/>
              <a:ahLst/>
              <a:cxnLst/>
              <a:rect r="r" b="b" t="t" l="l"/>
              <a:pathLst>
                <a:path h="1685258" w="1883872">
                  <a:moveTo>
                    <a:pt x="0" y="0"/>
                  </a:moveTo>
                  <a:lnTo>
                    <a:pt x="1883872" y="0"/>
                  </a:lnTo>
                  <a:lnTo>
                    <a:pt x="1883872" y="1685258"/>
                  </a:lnTo>
                  <a:lnTo>
                    <a:pt x="0" y="1685258"/>
                  </a:lnTo>
                  <a:close/>
                </a:path>
              </a:pathLst>
            </a:custGeom>
            <a:blipFill>
              <a:blip r:embed="rId2"/>
              <a:stretch>
                <a:fillRect l="0" t="-52295" r="0" b="-95288"/>
              </a:stretch>
            </a:blipFill>
          </p:spPr>
        </p:sp>
      </p:grpSp>
      <p:sp>
        <p:nvSpPr>
          <p:cNvPr name="AutoShape 4" id="4"/>
          <p:cNvSpPr/>
          <p:nvPr/>
        </p:nvSpPr>
        <p:spPr>
          <a:xfrm flipV="true">
            <a:off x="666750" y="9625012"/>
            <a:ext cx="5753100" cy="0"/>
          </a:xfrm>
          <a:prstGeom prst="line">
            <a:avLst/>
          </a:prstGeom>
          <a:ln cap="flat" w="9525">
            <a:solidFill>
              <a:srgbClr val="324A1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5" id="5"/>
          <p:cNvSpPr txBox="true"/>
          <p:nvPr/>
        </p:nvSpPr>
        <p:spPr>
          <a:xfrm rot="0">
            <a:off x="-197197" y="3241329"/>
            <a:ext cx="16215894" cy="65808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98190" indent="-449095" lvl="1">
              <a:lnSpc>
                <a:spcPts val="5824"/>
              </a:lnSpc>
              <a:buFont typeface="Arial"/>
              <a:buChar char="•"/>
            </a:pPr>
            <a:r>
              <a:rPr lang="en-US" sz="4160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W</a:t>
            </a:r>
            <a:r>
              <a:rPr lang="en-US" sz="4160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omen and girls face disproportionate levels </a:t>
            </a:r>
            <a:r>
              <a:rPr lang="en-US" sz="4160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o</a:t>
            </a:r>
            <a:r>
              <a:rPr lang="en-US" sz="4160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f</a:t>
            </a:r>
            <a:r>
              <a:rPr lang="en-US" sz="4160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</a:t>
            </a:r>
            <a:r>
              <a:rPr lang="en-US" sz="4160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onl</a:t>
            </a:r>
            <a:r>
              <a:rPr lang="en-US" sz="4160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i</a:t>
            </a:r>
            <a:r>
              <a:rPr lang="en-US" sz="4160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n</a:t>
            </a:r>
            <a:r>
              <a:rPr lang="en-US" sz="4160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e</a:t>
            </a:r>
            <a:r>
              <a:rPr lang="en-US" sz="4160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harassment, cyberbullying, grooming, stalking, sextortion, and misinformation.</a:t>
            </a:r>
          </a:p>
          <a:p>
            <a:pPr algn="l" marL="898190" indent="-449095" lvl="1">
              <a:lnSpc>
                <a:spcPts val="5824"/>
              </a:lnSpc>
              <a:buFont typeface="Arial"/>
              <a:buChar char="•"/>
            </a:pPr>
            <a:r>
              <a:rPr lang="en-US" sz="4160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Over 70% of young women globally report experiencing digital violence.</a:t>
            </a:r>
          </a:p>
          <a:p>
            <a:pPr algn="l" marL="898190" indent="-449095" lvl="1">
              <a:lnSpc>
                <a:spcPts val="5824"/>
              </a:lnSpc>
              <a:buFont typeface="Arial"/>
              <a:buChar char="•"/>
            </a:pPr>
            <a:r>
              <a:rPr lang="en-US" sz="4160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Lack of digital literacy, especially in young girls, increases vulnerability.</a:t>
            </a:r>
          </a:p>
          <a:p>
            <a:pPr algn="l" marL="898190" indent="-449095" lvl="1">
              <a:lnSpc>
                <a:spcPts val="5824"/>
              </a:lnSpc>
              <a:buFont typeface="Arial"/>
              <a:buChar char="•"/>
            </a:pPr>
            <a:r>
              <a:rPr lang="en-US" sz="4160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Existing tools are boring, text-heavy, or reactive — not preventive.</a:t>
            </a:r>
          </a:p>
          <a:p>
            <a:pPr algn="l" marL="0" indent="0" lvl="0">
              <a:lnSpc>
                <a:spcPts val="5824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988156" y="1032517"/>
            <a:ext cx="10863388" cy="11182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579"/>
              </a:lnSpc>
            </a:pPr>
            <a:r>
              <a:rPr lang="en-US" sz="7799">
                <a:solidFill>
                  <a:srgbClr val="000000"/>
                </a:solidFill>
                <a:latin typeface="Georgia Pro Condensed Light"/>
                <a:ea typeface="Georgia Pro Condensed Light"/>
                <a:cs typeface="Georgia Pro Condensed Light"/>
                <a:sym typeface="Georgia Pro Condensed Light"/>
              </a:rPr>
              <a:t>The Crisis of Digital Abuse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345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66750" y="723900"/>
            <a:ext cx="5753100" cy="2034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920"/>
              </a:lnSpc>
              <a:spcBef>
                <a:spcPct val="0"/>
              </a:spcBef>
            </a:pPr>
            <a:r>
              <a:rPr lang="en-US" sz="7200" strike="noStrike" u="none">
                <a:solidFill>
                  <a:srgbClr val="D8D7CC"/>
                </a:solidFill>
                <a:latin typeface="Georgia Pro Condensed Light"/>
                <a:ea typeface="Georgia Pro Condensed Light"/>
                <a:cs typeface="Georgia Pro Condensed Light"/>
                <a:sym typeface="Georgia Pro Condensed Light"/>
              </a:rPr>
              <a:t>Defining Digital Abuse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7858125" y="657225"/>
            <a:ext cx="4314825" cy="4214495"/>
            <a:chOff x="0" y="0"/>
            <a:chExt cx="5753100" cy="5619327"/>
          </a:xfrm>
        </p:grpSpPr>
        <p:sp>
          <p:nvSpPr>
            <p:cNvPr name="AutoShape 4" id="4"/>
            <p:cNvSpPr/>
            <p:nvPr/>
          </p:nvSpPr>
          <p:spPr>
            <a:xfrm flipV="true">
              <a:off x="0" y="12700"/>
              <a:ext cx="5753100" cy="0"/>
            </a:xfrm>
            <a:prstGeom prst="line">
              <a:avLst/>
            </a:prstGeom>
            <a:ln cap="flat" w="25400">
              <a:solidFill>
                <a:srgbClr val="D8D7CC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5" id="5"/>
            <p:cNvSpPr txBox="true"/>
            <p:nvPr/>
          </p:nvSpPr>
          <p:spPr>
            <a:xfrm rot="0">
              <a:off x="0" y="1555115"/>
              <a:ext cx="5753100" cy="406421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060"/>
                </a:lnSpc>
              </a:pPr>
              <a:r>
                <a:rPr lang="en-US" sz="2900">
                  <a:solidFill>
                    <a:srgbClr val="D8D7CC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Cyberstalking involves repeated harassment or threatening behavior conducted online, causing emotional distress to victims.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614045"/>
              <a:ext cx="5753100" cy="5924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60"/>
                </a:lnSpc>
              </a:pPr>
              <a:r>
                <a:rPr lang="en-US" sz="3200">
                  <a:solidFill>
                    <a:srgbClr val="000000"/>
                  </a:solidFill>
                  <a:latin typeface="Georgia Pro Condensed Light"/>
                  <a:ea typeface="Georgia Pro Condensed Light"/>
                  <a:cs typeface="Georgia Pro Condensed Light"/>
                  <a:sym typeface="Georgia Pro Condensed Light"/>
                </a:rPr>
                <a:t>Cyberstalking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3306425" y="657225"/>
            <a:ext cx="4314825" cy="4102735"/>
            <a:chOff x="0" y="0"/>
            <a:chExt cx="5753100" cy="5470313"/>
          </a:xfrm>
        </p:grpSpPr>
        <p:sp>
          <p:nvSpPr>
            <p:cNvPr name="AutoShape 8" id="8"/>
            <p:cNvSpPr/>
            <p:nvPr/>
          </p:nvSpPr>
          <p:spPr>
            <a:xfrm>
              <a:off x="0" y="12700"/>
              <a:ext cx="5753100" cy="0"/>
            </a:xfrm>
            <a:prstGeom prst="line">
              <a:avLst/>
            </a:prstGeom>
            <a:ln cap="flat" w="25400">
              <a:solidFill>
                <a:srgbClr val="D8D7CC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9" id="9"/>
            <p:cNvSpPr txBox="true"/>
            <p:nvPr/>
          </p:nvSpPr>
          <p:spPr>
            <a:xfrm rot="0">
              <a:off x="0" y="1555115"/>
              <a:ext cx="5753100" cy="391519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920"/>
                </a:lnSpc>
              </a:pPr>
              <a:r>
                <a:rPr lang="en-US" sz="2800">
                  <a:solidFill>
                    <a:srgbClr val="D8D7CC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Online harassment includes unwanted comments, threats, or abuse directed at individuals through digital platforms and social media.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614045"/>
              <a:ext cx="5753100" cy="5924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60"/>
                </a:lnSpc>
              </a:pPr>
              <a:r>
                <a:rPr lang="en-US" sz="3200">
                  <a:solidFill>
                    <a:srgbClr val="000000"/>
                  </a:solidFill>
                  <a:latin typeface="Georgia Pro Condensed Light"/>
                  <a:ea typeface="Georgia Pro Condensed Light"/>
                  <a:cs typeface="Georgia Pro Condensed Light"/>
                  <a:sym typeface="Georgia Pro Condensed Light"/>
                </a:rPr>
                <a:t>Online Harassment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7858125" y="5133975"/>
            <a:ext cx="4314825" cy="4380865"/>
            <a:chOff x="0" y="0"/>
            <a:chExt cx="5753100" cy="5841154"/>
          </a:xfrm>
        </p:grpSpPr>
        <p:sp>
          <p:nvSpPr>
            <p:cNvPr name="AutoShape 12" id="12"/>
            <p:cNvSpPr/>
            <p:nvPr/>
          </p:nvSpPr>
          <p:spPr>
            <a:xfrm flipV="true">
              <a:off x="0" y="12700"/>
              <a:ext cx="5753100" cy="0"/>
            </a:xfrm>
            <a:prstGeom prst="line">
              <a:avLst/>
            </a:prstGeom>
            <a:ln cap="flat" w="25400">
              <a:solidFill>
                <a:srgbClr val="D8D7CC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13" id="13"/>
            <p:cNvSpPr txBox="true"/>
            <p:nvPr/>
          </p:nvSpPr>
          <p:spPr>
            <a:xfrm rot="0">
              <a:off x="0" y="1536065"/>
              <a:ext cx="5753100" cy="430508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339"/>
                </a:lnSpc>
              </a:pPr>
              <a:r>
                <a:rPr lang="en-US" sz="3099">
                  <a:solidFill>
                    <a:srgbClr val="D8D7CC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Doxing is the act of publicly revealing private information about individuals, often leading to harassment or harm.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0" y="614045"/>
              <a:ext cx="5753100" cy="5924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60"/>
                </a:lnSpc>
              </a:pPr>
              <a:r>
                <a:rPr lang="en-US" sz="3200">
                  <a:solidFill>
                    <a:srgbClr val="000000"/>
                  </a:solidFill>
                  <a:latin typeface="Georgia Pro Condensed Light"/>
                  <a:ea typeface="Georgia Pro Condensed Light"/>
                  <a:cs typeface="Georgia Pro Condensed Light"/>
                  <a:sym typeface="Georgia Pro Condensed Light"/>
                </a:rPr>
                <a:t>Doxing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3306425" y="5133975"/>
            <a:ext cx="4314825" cy="4326255"/>
            <a:chOff x="0" y="0"/>
            <a:chExt cx="5753100" cy="5768340"/>
          </a:xfrm>
        </p:grpSpPr>
        <p:sp>
          <p:nvSpPr>
            <p:cNvPr name="AutoShape 16" id="16"/>
            <p:cNvSpPr/>
            <p:nvPr/>
          </p:nvSpPr>
          <p:spPr>
            <a:xfrm>
              <a:off x="0" y="12700"/>
              <a:ext cx="5753100" cy="0"/>
            </a:xfrm>
            <a:prstGeom prst="line">
              <a:avLst/>
            </a:prstGeom>
            <a:ln cap="flat" w="25400">
              <a:solidFill>
                <a:srgbClr val="D8D7CC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17" id="17"/>
            <p:cNvSpPr txBox="true"/>
            <p:nvPr/>
          </p:nvSpPr>
          <p:spPr>
            <a:xfrm rot="0">
              <a:off x="0" y="1536065"/>
              <a:ext cx="5753100" cy="42322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200"/>
                </a:lnSpc>
              </a:pPr>
              <a:r>
                <a:rPr lang="en-US" sz="3000">
                  <a:solidFill>
                    <a:srgbClr val="D8D7CC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Identity theft occurs when someone unlawfully uses another person's personal information to commit fraud or deception.</a:t>
              </a:r>
            </a:p>
          </p:txBody>
        </p:sp>
        <p:sp>
          <p:nvSpPr>
            <p:cNvPr name="TextBox 18" id="18"/>
            <p:cNvSpPr txBox="true"/>
            <p:nvPr/>
          </p:nvSpPr>
          <p:spPr>
            <a:xfrm rot="0">
              <a:off x="0" y="614045"/>
              <a:ext cx="5753100" cy="5924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60"/>
                </a:lnSpc>
              </a:pPr>
              <a:r>
                <a:rPr lang="en-US" sz="3200">
                  <a:solidFill>
                    <a:srgbClr val="000000"/>
                  </a:solidFill>
                  <a:latin typeface="Georgia Pro Condensed Light"/>
                  <a:ea typeface="Georgia Pro Condensed Light"/>
                  <a:cs typeface="Georgia Pro Condensed Light"/>
                  <a:sym typeface="Georgia Pro Condensed Light"/>
                </a:rPr>
                <a:t>Identity Theft</a:t>
              </a:r>
            </a:p>
          </p:txBody>
        </p:sp>
      </p:grpSp>
      <p:sp>
        <p:nvSpPr>
          <p:cNvPr name="Freeform 19" id="19"/>
          <p:cNvSpPr/>
          <p:nvPr/>
        </p:nvSpPr>
        <p:spPr>
          <a:xfrm flipH="false" flipV="false" rot="0">
            <a:off x="666750" y="6153150"/>
            <a:ext cx="2571750" cy="2571750"/>
          </a:xfrm>
          <a:custGeom>
            <a:avLst/>
            <a:gdLst/>
            <a:ahLst/>
            <a:cxnLst/>
            <a:rect r="r" b="b" t="t" l="l"/>
            <a:pathLst>
              <a:path h="2571750" w="2571750">
                <a:moveTo>
                  <a:pt x="0" y="0"/>
                </a:moveTo>
                <a:lnTo>
                  <a:pt x="2571750" y="0"/>
                </a:lnTo>
                <a:lnTo>
                  <a:pt x="2571750" y="2571750"/>
                </a:lnTo>
                <a:lnTo>
                  <a:pt x="0" y="25717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345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143483" y="272355"/>
            <a:ext cx="6144517" cy="4871145"/>
            <a:chOff x="0" y="0"/>
            <a:chExt cx="1360180" cy="107830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60180" cy="1078301"/>
            </a:xfrm>
            <a:custGeom>
              <a:avLst/>
              <a:gdLst/>
              <a:ahLst/>
              <a:cxnLst/>
              <a:rect r="r" b="b" t="t" l="l"/>
              <a:pathLst>
                <a:path h="1078301" w="1360180">
                  <a:moveTo>
                    <a:pt x="0" y="0"/>
                  </a:moveTo>
                  <a:lnTo>
                    <a:pt x="1360180" y="0"/>
                  </a:lnTo>
                  <a:lnTo>
                    <a:pt x="1360180" y="1078301"/>
                  </a:lnTo>
                  <a:lnTo>
                    <a:pt x="0" y="1078301"/>
                  </a:lnTo>
                  <a:close/>
                </a:path>
              </a:pathLst>
            </a:custGeom>
            <a:blipFill>
              <a:blip r:embed="rId2"/>
              <a:stretch>
                <a:fillRect l="0" t="-53112" r="0" b="-126266"/>
              </a:stretch>
            </a:blipFill>
          </p:spPr>
        </p:sp>
      </p:grpSp>
      <p:sp>
        <p:nvSpPr>
          <p:cNvPr name="AutoShape 4" id="4"/>
          <p:cNvSpPr/>
          <p:nvPr/>
        </p:nvSpPr>
        <p:spPr>
          <a:xfrm flipV="true">
            <a:off x="666750" y="9625012"/>
            <a:ext cx="5753100" cy="0"/>
          </a:xfrm>
          <a:prstGeom prst="line">
            <a:avLst/>
          </a:prstGeom>
          <a:ln cap="flat" w="9525">
            <a:solidFill>
              <a:srgbClr val="D8D7C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5" id="5"/>
          <p:cNvSpPr txBox="true"/>
          <p:nvPr/>
        </p:nvSpPr>
        <p:spPr>
          <a:xfrm rot="0">
            <a:off x="338088" y="5067300"/>
            <a:ext cx="17949912" cy="5872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55648" indent="-427824" lvl="1">
              <a:lnSpc>
                <a:spcPts val="5548"/>
              </a:lnSpc>
              <a:buFont typeface="Arial"/>
              <a:buChar char="•"/>
            </a:pPr>
            <a:r>
              <a:rPr lang="en-US" sz="3963">
                <a:solidFill>
                  <a:srgbClr val="D8D7CC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🎮</a:t>
            </a:r>
            <a:r>
              <a:rPr lang="en-US" sz="3963">
                <a:solidFill>
                  <a:srgbClr val="D8D7CC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Story-based missions teaching online safety</a:t>
            </a:r>
          </a:p>
          <a:p>
            <a:pPr algn="l" marL="855648" indent="-427824" lvl="1">
              <a:lnSpc>
                <a:spcPts val="5548"/>
              </a:lnSpc>
              <a:buFont typeface="Arial"/>
              <a:buChar char="•"/>
            </a:pPr>
            <a:r>
              <a:rPr lang="en-US" sz="3963">
                <a:solidFill>
                  <a:srgbClr val="D8D7CC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🛡️ Scenarios on cyb</a:t>
            </a:r>
            <a:r>
              <a:rPr lang="en-US" sz="3963">
                <a:solidFill>
                  <a:srgbClr val="D8D7CC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e</a:t>
            </a:r>
            <a:r>
              <a:rPr lang="en-US" sz="3963">
                <a:solidFill>
                  <a:srgbClr val="D8D7CC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rbully</a:t>
            </a:r>
            <a:r>
              <a:rPr lang="en-US" sz="3963">
                <a:solidFill>
                  <a:srgbClr val="D8D7CC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ing</a:t>
            </a:r>
            <a:r>
              <a:rPr lang="en-US" sz="3963">
                <a:solidFill>
                  <a:srgbClr val="D8D7CC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,</a:t>
            </a:r>
            <a:r>
              <a:rPr lang="en-US" sz="3963">
                <a:solidFill>
                  <a:srgbClr val="D8D7CC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</a:t>
            </a:r>
            <a:r>
              <a:rPr lang="en-US" sz="3963">
                <a:solidFill>
                  <a:srgbClr val="D8D7CC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groom</a:t>
            </a:r>
            <a:r>
              <a:rPr lang="en-US" sz="3963">
                <a:solidFill>
                  <a:srgbClr val="D8D7CC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i</a:t>
            </a:r>
            <a:r>
              <a:rPr lang="en-US" sz="3963">
                <a:solidFill>
                  <a:srgbClr val="D8D7CC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n</a:t>
            </a:r>
            <a:r>
              <a:rPr lang="en-US" sz="3963">
                <a:solidFill>
                  <a:srgbClr val="D8D7CC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g</a:t>
            </a:r>
            <a:r>
              <a:rPr lang="en-US" sz="3963">
                <a:solidFill>
                  <a:srgbClr val="D8D7CC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, ph</a:t>
            </a:r>
            <a:r>
              <a:rPr lang="en-US" sz="3963">
                <a:solidFill>
                  <a:srgbClr val="D8D7CC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is</a:t>
            </a:r>
            <a:r>
              <a:rPr lang="en-US" sz="3963">
                <a:solidFill>
                  <a:srgbClr val="D8D7CC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hing &amp; consent</a:t>
            </a:r>
          </a:p>
          <a:p>
            <a:pPr algn="l" marL="855648" indent="-427824" lvl="1">
              <a:lnSpc>
                <a:spcPts val="5548"/>
              </a:lnSpc>
              <a:buFont typeface="Arial"/>
              <a:buChar char="•"/>
            </a:pPr>
            <a:r>
              <a:rPr lang="en-US" sz="3963">
                <a:solidFill>
                  <a:srgbClr val="D8D7CC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🎁 Rewards &amp; badges for safe choices</a:t>
            </a:r>
          </a:p>
          <a:p>
            <a:pPr algn="l" marL="855648" indent="-427824" lvl="1">
              <a:lnSpc>
                <a:spcPts val="5548"/>
              </a:lnSpc>
              <a:buFont typeface="Arial"/>
              <a:buChar char="•"/>
            </a:pPr>
            <a:r>
              <a:rPr lang="en-US" sz="3963">
                <a:solidFill>
                  <a:srgbClr val="D8D7CC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🔍 Decision-making challenges reflecting real online situations</a:t>
            </a:r>
          </a:p>
          <a:p>
            <a:pPr algn="l" marL="855648" indent="-427824" lvl="1">
              <a:lnSpc>
                <a:spcPts val="5548"/>
              </a:lnSpc>
              <a:buFont typeface="Arial"/>
              <a:buChar char="•"/>
            </a:pPr>
            <a:r>
              <a:rPr lang="en-US" sz="3963">
                <a:solidFill>
                  <a:srgbClr val="D8D7CC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📚 Mini-lessons after each level</a:t>
            </a:r>
          </a:p>
          <a:p>
            <a:pPr algn="l" marL="855648" indent="-427824" lvl="1">
              <a:lnSpc>
                <a:spcPts val="5548"/>
              </a:lnSpc>
              <a:buFont typeface="Arial"/>
              <a:buChar char="•"/>
            </a:pPr>
            <a:r>
              <a:rPr lang="en-US" sz="3963">
                <a:solidFill>
                  <a:srgbClr val="D8D7CC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🧠 Behaviour-change design based on gamification science</a:t>
            </a:r>
          </a:p>
          <a:p>
            <a:pPr algn="l" marL="0" indent="0" lvl="0">
              <a:lnSpc>
                <a:spcPts val="14111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666750" y="714375"/>
            <a:ext cx="11192050" cy="7842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050"/>
              </a:lnSpc>
            </a:pPr>
            <a:r>
              <a:rPr lang="en-US" sz="5500">
                <a:solidFill>
                  <a:srgbClr val="D8D7CC"/>
                </a:solidFill>
                <a:latin typeface="Georgia Pro Condensed Light"/>
                <a:ea typeface="Georgia Pro Condensed Light"/>
                <a:cs typeface="Georgia Pro Condensed Light"/>
                <a:sym typeface="Georgia Pro Condensed Light"/>
              </a:rPr>
              <a:t>OUR SOLUTION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66750" y="2571750"/>
            <a:ext cx="11192050" cy="15462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050"/>
              </a:lnSpc>
            </a:pPr>
            <a:r>
              <a:rPr lang="en-US" sz="5500">
                <a:solidFill>
                  <a:srgbClr val="D8D7CC"/>
                </a:solidFill>
                <a:latin typeface="Georgia Pro Condensed Light"/>
                <a:ea typeface="Georgia Pro Condensed Light"/>
                <a:cs typeface="Georgia Pro Condensed Light"/>
                <a:sym typeface="Georgia Pro Condensed Light"/>
              </a:rPr>
              <a:t>A g</a:t>
            </a:r>
            <a:r>
              <a:rPr lang="en-US" sz="5500">
                <a:solidFill>
                  <a:srgbClr val="D8D7CC"/>
                </a:solidFill>
                <a:latin typeface="Georgia Pro Condensed Light"/>
                <a:ea typeface="Georgia Pro Condensed Light"/>
                <a:cs typeface="Georgia Pro Condensed Light"/>
                <a:sym typeface="Georgia Pro Condensed Light"/>
              </a:rPr>
              <a:t>ame that teaches digital safety in fun, interactive, and memorable ways.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2A9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0" y="666750"/>
            <a:ext cx="7786886" cy="8636799"/>
            <a:chOff x="0" y="0"/>
            <a:chExt cx="957635" cy="106215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57635" cy="1062158"/>
            </a:xfrm>
            <a:custGeom>
              <a:avLst/>
              <a:gdLst/>
              <a:ahLst/>
              <a:cxnLst/>
              <a:rect r="r" b="b" t="t" l="l"/>
              <a:pathLst>
                <a:path h="1062158" w="957635">
                  <a:moveTo>
                    <a:pt x="0" y="0"/>
                  </a:moveTo>
                  <a:lnTo>
                    <a:pt x="957635" y="0"/>
                  </a:lnTo>
                  <a:lnTo>
                    <a:pt x="957635" y="1062158"/>
                  </a:lnTo>
                  <a:lnTo>
                    <a:pt x="0" y="1062158"/>
                  </a:lnTo>
                  <a:close/>
                </a:path>
              </a:pathLst>
            </a:custGeom>
            <a:blipFill>
              <a:blip r:embed="rId2"/>
              <a:stretch>
                <a:fillRect l="-31148" t="-96813" r="0" b="-65219"/>
              </a:stretch>
            </a:blipFill>
          </p:spPr>
        </p:sp>
      </p:grpSp>
      <p:sp>
        <p:nvSpPr>
          <p:cNvPr name="AutoShape 4" id="4"/>
          <p:cNvSpPr/>
          <p:nvPr/>
        </p:nvSpPr>
        <p:spPr>
          <a:xfrm flipV="true">
            <a:off x="666750" y="9625012"/>
            <a:ext cx="5753100" cy="0"/>
          </a:xfrm>
          <a:prstGeom prst="line">
            <a:avLst/>
          </a:prstGeom>
          <a:ln cap="flat" w="9525">
            <a:solidFill>
              <a:srgbClr val="D8D7C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5" id="5"/>
          <p:cNvSpPr txBox="true"/>
          <p:nvPr/>
        </p:nvSpPr>
        <p:spPr>
          <a:xfrm rot="0">
            <a:off x="666750" y="723900"/>
            <a:ext cx="6886575" cy="1034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920"/>
              </a:lnSpc>
            </a:pPr>
            <a:r>
              <a:rPr lang="en-US" sz="7200">
                <a:solidFill>
                  <a:srgbClr val="000000"/>
                </a:solidFill>
                <a:latin typeface="Georgia Pro Condensed Light"/>
                <a:ea typeface="Georgia Pro Condensed Light"/>
                <a:cs typeface="Georgia Pro Condensed Light"/>
                <a:sym typeface="Georgia Pro Condensed Light"/>
              </a:rPr>
              <a:t>Game Concept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0" y="7151568"/>
            <a:ext cx="7553325" cy="28879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12464" indent="-356232" lvl="1">
              <a:lnSpc>
                <a:spcPts val="4619"/>
              </a:lnSpc>
              <a:buFont typeface="Arial"/>
              <a:buChar char="•"/>
            </a:pPr>
            <a:r>
              <a:rPr lang="en-US" sz="3299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P</a:t>
            </a:r>
            <a:r>
              <a:rPr lang="en-US" sz="3299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r</a:t>
            </a:r>
            <a:r>
              <a:rPr lang="en-US" sz="3299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esents a real scenario</a:t>
            </a:r>
          </a:p>
          <a:p>
            <a:pPr algn="l" marL="712464" indent="-356232" lvl="1">
              <a:lnSpc>
                <a:spcPts val="4619"/>
              </a:lnSpc>
              <a:buFont typeface="Arial"/>
              <a:buChar char="•"/>
            </a:pPr>
            <a:r>
              <a:rPr lang="en-US" sz="3299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Player chooses what action to take</a:t>
            </a:r>
          </a:p>
          <a:p>
            <a:pPr algn="l" marL="712464" indent="-356232" lvl="1">
              <a:lnSpc>
                <a:spcPts val="4619"/>
              </a:lnSpc>
              <a:buFont typeface="Arial"/>
              <a:buChar char="•"/>
            </a:pPr>
            <a:r>
              <a:rPr lang="en-US" sz="3299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Immediate feedback teaches safe behavior</a:t>
            </a:r>
          </a:p>
          <a:p>
            <a:pPr algn="l" marL="0" indent="0" lvl="0">
              <a:lnSpc>
                <a:spcPts val="4619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2308641"/>
            <a:ext cx="6960818" cy="43021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226"/>
              </a:lnSpc>
            </a:pPr>
            <a:r>
              <a:rPr lang="en-US" sz="3019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L</a:t>
            </a:r>
            <a:r>
              <a:rPr lang="en-US" sz="3019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evel 1: Spot the Cyberbully</a:t>
            </a:r>
          </a:p>
          <a:p>
            <a:pPr algn="l" marL="0" indent="0" lvl="0">
              <a:lnSpc>
                <a:spcPts val="4226"/>
              </a:lnSpc>
            </a:pPr>
          </a:p>
          <a:p>
            <a:pPr algn="l" marL="0" indent="0" lvl="0">
              <a:lnSpc>
                <a:spcPts val="4347"/>
              </a:lnSpc>
            </a:pPr>
            <a:r>
              <a:rPr lang="en-US" sz="3105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Level 2: Decode the Grooming Attempts</a:t>
            </a:r>
          </a:p>
          <a:p>
            <a:pPr algn="l" marL="0" indent="0" lvl="0">
              <a:lnSpc>
                <a:spcPts val="4347"/>
              </a:lnSpc>
            </a:pPr>
          </a:p>
          <a:p>
            <a:pPr algn="l" marL="0" indent="0" lvl="0">
              <a:lnSpc>
                <a:spcPts val="4226"/>
              </a:lnSpc>
            </a:pPr>
            <a:r>
              <a:rPr lang="en-US" sz="3019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Level 3: Phishing Messages Challenge</a:t>
            </a:r>
          </a:p>
          <a:p>
            <a:pPr algn="l" marL="0" indent="0" lvl="0">
              <a:lnSpc>
                <a:spcPts val="4226"/>
              </a:lnSpc>
            </a:pPr>
          </a:p>
          <a:p>
            <a:pPr algn="l" marL="0" indent="0" lvl="0">
              <a:lnSpc>
                <a:spcPts val="4226"/>
              </a:lnSpc>
            </a:pPr>
            <a:r>
              <a:rPr lang="en-US" sz="3019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Level 4: Digital Consent &amp; Boundaries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2A9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750" y="2929425"/>
            <a:ext cx="4314825" cy="3557100"/>
            <a:chOff x="0" y="0"/>
            <a:chExt cx="800847" cy="66021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00847" cy="660210"/>
            </a:xfrm>
            <a:custGeom>
              <a:avLst/>
              <a:gdLst/>
              <a:ahLst/>
              <a:cxnLst/>
              <a:rect r="r" b="b" t="t" l="l"/>
              <a:pathLst>
                <a:path h="660210" w="800847">
                  <a:moveTo>
                    <a:pt x="0" y="0"/>
                  </a:moveTo>
                  <a:lnTo>
                    <a:pt x="800847" y="0"/>
                  </a:lnTo>
                  <a:lnTo>
                    <a:pt x="800847" y="660210"/>
                  </a:lnTo>
                  <a:lnTo>
                    <a:pt x="0" y="660210"/>
                  </a:lnTo>
                  <a:close/>
                </a:path>
              </a:pathLst>
            </a:custGeom>
            <a:blipFill>
              <a:blip r:embed="rId2"/>
              <a:stretch>
                <a:fillRect l="0" t="-30917" r="0" b="-137895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3611225" y="2905125"/>
            <a:ext cx="4676775" cy="3581400"/>
            <a:chOff x="0" y="0"/>
            <a:chExt cx="868026" cy="66472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68026" cy="664720"/>
            </a:xfrm>
            <a:custGeom>
              <a:avLst/>
              <a:gdLst/>
              <a:ahLst/>
              <a:cxnLst/>
              <a:rect r="r" b="b" t="t" l="l"/>
              <a:pathLst>
                <a:path h="664720" w="868026">
                  <a:moveTo>
                    <a:pt x="0" y="0"/>
                  </a:moveTo>
                  <a:lnTo>
                    <a:pt x="868026" y="0"/>
                  </a:lnTo>
                  <a:lnTo>
                    <a:pt x="868026" y="664720"/>
                  </a:lnTo>
                  <a:lnTo>
                    <a:pt x="0" y="664720"/>
                  </a:lnTo>
                  <a:close/>
                </a:path>
              </a:pathLst>
            </a:custGeom>
            <a:blipFill>
              <a:blip r:embed="rId3"/>
              <a:stretch>
                <a:fillRect l="0" t="-41885" r="0" b="-147499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7291387" y="4248150"/>
            <a:ext cx="4010025" cy="3581400"/>
            <a:chOff x="0" y="0"/>
            <a:chExt cx="744275" cy="66472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44275" cy="664720"/>
            </a:xfrm>
            <a:custGeom>
              <a:avLst/>
              <a:gdLst/>
              <a:ahLst/>
              <a:cxnLst/>
              <a:rect r="r" b="b" t="t" l="l"/>
              <a:pathLst>
                <a:path h="664720" w="744275">
                  <a:moveTo>
                    <a:pt x="0" y="0"/>
                  </a:moveTo>
                  <a:lnTo>
                    <a:pt x="744275" y="0"/>
                  </a:lnTo>
                  <a:lnTo>
                    <a:pt x="744275" y="664720"/>
                  </a:lnTo>
                  <a:lnTo>
                    <a:pt x="0" y="664720"/>
                  </a:lnTo>
                  <a:close/>
                </a:path>
              </a:pathLst>
            </a:custGeom>
            <a:blipFill>
              <a:blip r:embed="rId3"/>
              <a:stretch>
                <a:fillRect l="-60062" t="-88185" r="0" b="-208974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666750" y="714375"/>
            <a:ext cx="15516225" cy="9084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907"/>
              </a:lnSpc>
              <a:spcBef>
                <a:spcPct val="0"/>
              </a:spcBef>
            </a:pPr>
            <a:r>
              <a:rPr lang="en-US" sz="6279" strike="noStrike" u="none">
                <a:solidFill>
                  <a:srgbClr val="000000"/>
                </a:solidFill>
                <a:latin typeface="Georgia Pro Condensed Light"/>
                <a:ea typeface="Georgia Pro Condensed Light"/>
                <a:cs typeface="Georgia Pro Condensed Light"/>
                <a:sym typeface="Georgia Pro Condensed Light"/>
              </a:rPr>
              <a:t>Game Mechanics: Engaging Learning Experiences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666750" y="6953250"/>
            <a:ext cx="4010025" cy="2106296"/>
            <a:chOff x="0" y="0"/>
            <a:chExt cx="5346700" cy="2808394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0" y="0"/>
              <a:ext cx="5346700" cy="6477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840"/>
                </a:lnSpc>
                <a:spcBef>
                  <a:spcPct val="0"/>
                </a:spcBef>
              </a:pPr>
              <a:r>
                <a:rPr lang="en-US" b="true" sz="3200">
                  <a:solidFill>
                    <a:srgbClr val="324A1E"/>
                  </a:solidFill>
                  <a:latin typeface="Georgia Pro Condensed Bold"/>
                  <a:ea typeface="Georgia Pro Condensed Bold"/>
                  <a:cs typeface="Georgia Pro Condensed Bold"/>
                  <a:sym typeface="Georgia Pro Condensed Bold"/>
                </a:rPr>
                <a:t>Scenario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855345"/>
              <a:ext cx="5346700" cy="195304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919"/>
                </a:lnSpc>
                <a:spcBef>
                  <a:spcPct val="0"/>
                </a:spcBef>
              </a:pPr>
              <a:r>
                <a:rPr lang="en-US" sz="2799">
                  <a:solidFill>
                    <a:srgbClr val="576D3B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Players navigate real-life inspired situations interactively.</a:t>
              </a: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666750" y="1971648"/>
            <a:ext cx="1438275" cy="48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840"/>
              </a:lnSpc>
              <a:spcBef>
                <a:spcPct val="0"/>
              </a:spcBef>
            </a:pPr>
            <a:r>
              <a:rPr lang="en-US" sz="3200">
                <a:solidFill>
                  <a:srgbClr val="324A1E"/>
                </a:solidFill>
                <a:latin typeface="Georgia Pro Condensed Light"/>
                <a:ea typeface="Georgia Pro Condensed Light"/>
                <a:cs typeface="Georgia Pro Condensed Light"/>
                <a:sym typeface="Georgia Pro Condensed Light"/>
              </a:rPr>
              <a:t>01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13611225" y="6934200"/>
            <a:ext cx="4010025" cy="2241551"/>
            <a:chOff x="0" y="0"/>
            <a:chExt cx="5346700" cy="2988734"/>
          </a:xfrm>
        </p:grpSpPr>
        <p:sp>
          <p:nvSpPr>
            <p:cNvPr name="TextBox 14" id="14"/>
            <p:cNvSpPr txBox="true"/>
            <p:nvPr/>
          </p:nvSpPr>
          <p:spPr>
            <a:xfrm rot="0">
              <a:off x="0" y="0"/>
              <a:ext cx="5346700" cy="6477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840"/>
                </a:lnSpc>
                <a:spcBef>
                  <a:spcPct val="0"/>
                </a:spcBef>
              </a:pPr>
              <a:r>
                <a:rPr lang="en-US" b="true" sz="3200">
                  <a:solidFill>
                    <a:srgbClr val="324A1E"/>
                  </a:solidFill>
                  <a:latin typeface="Georgia Pro Condensed Bold"/>
                  <a:ea typeface="Georgia Pro Condensed Bold"/>
                  <a:cs typeface="Georgia Pro Condensed Bold"/>
                  <a:sym typeface="Georgia Pro Condensed Bold"/>
                </a:rPr>
                <a:t>Consequences</a:t>
              </a:r>
            </a:p>
          </p:txBody>
        </p:sp>
        <p:sp>
          <p:nvSpPr>
            <p:cNvPr name="TextBox 15" id="15"/>
            <p:cNvSpPr txBox="true"/>
            <p:nvPr/>
          </p:nvSpPr>
          <p:spPr>
            <a:xfrm rot="0">
              <a:off x="0" y="855345"/>
              <a:ext cx="5346700" cy="213338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339"/>
                </a:lnSpc>
                <a:spcBef>
                  <a:spcPct val="0"/>
                </a:spcBef>
              </a:pPr>
              <a:r>
                <a:rPr lang="en-US" sz="3099">
                  <a:solidFill>
                    <a:srgbClr val="576D3B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Real-world impacts are felt through gameplay experiences.</a:t>
              </a: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13611225" y="1971648"/>
            <a:ext cx="1438275" cy="48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840"/>
              </a:lnSpc>
              <a:spcBef>
                <a:spcPct val="0"/>
              </a:spcBef>
            </a:pPr>
            <a:r>
              <a:rPr lang="en-US" sz="3200" strike="noStrike" u="none">
                <a:solidFill>
                  <a:srgbClr val="324A1E"/>
                </a:solidFill>
                <a:latin typeface="Georgia Pro Condensed Light"/>
                <a:ea typeface="Georgia Pro Condensed Light"/>
                <a:cs typeface="Georgia Pro Condensed Light"/>
                <a:sym typeface="Georgia Pro Condensed Light"/>
              </a:rPr>
              <a:t>03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7291388" y="8239162"/>
            <a:ext cx="4930279" cy="1610996"/>
            <a:chOff x="0" y="0"/>
            <a:chExt cx="6573706" cy="2147994"/>
          </a:xfrm>
        </p:grpSpPr>
        <p:sp>
          <p:nvSpPr>
            <p:cNvPr name="TextBox 18" id="18"/>
            <p:cNvSpPr txBox="true"/>
            <p:nvPr/>
          </p:nvSpPr>
          <p:spPr>
            <a:xfrm rot="0">
              <a:off x="0" y="0"/>
              <a:ext cx="6573706" cy="6477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840"/>
                </a:lnSpc>
                <a:spcBef>
                  <a:spcPct val="0"/>
                </a:spcBef>
              </a:pPr>
              <a:r>
                <a:rPr lang="en-US" b="true" sz="3200" strike="noStrike" u="none">
                  <a:solidFill>
                    <a:srgbClr val="324A1E"/>
                  </a:solidFill>
                  <a:latin typeface="Georgia Pro Condensed Bold"/>
                  <a:ea typeface="Georgia Pro Condensed Bold"/>
                  <a:cs typeface="Georgia Pro Condensed Bold"/>
                  <a:sym typeface="Georgia Pro Condensed Bold"/>
                </a:rPr>
                <a:t>Decision</a:t>
              </a:r>
            </a:p>
          </p:txBody>
        </p:sp>
        <p:sp>
          <p:nvSpPr>
            <p:cNvPr name="TextBox 19" id="19"/>
            <p:cNvSpPr txBox="true"/>
            <p:nvPr/>
          </p:nvSpPr>
          <p:spPr>
            <a:xfrm rot="0">
              <a:off x="0" y="855345"/>
              <a:ext cx="6573706" cy="129264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919"/>
                </a:lnSpc>
                <a:spcBef>
                  <a:spcPct val="0"/>
                </a:spcBef>
              </a:pPr>
              <a:r>
                <a:rPr lang="en-US" sz="2799" strike="noStrike" u="none">
                  <a:solidFill>
                    <a:srgbClr val="576D3B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Choices lead to meaningful consequences and reflections.</a:t>
              </a: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7291388" y="3352800"/>
            <a:ext cx="1438275" cy="48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840"/>
              </a:lnSpc>
              <a:spcBef>
                <a:spcPct val="0"/>
              </a:spcBef>
            </a:pPr>
            <a:r>
              <a:rPr lang="en-US" sz="3200" strike="noStrike" u="none">
                <a:solidFill>
                  <a:srgbClr val="324A1E"/>
                </a:solidFill>
                <a:latin typeface="Georgia Pro Condensed Light"/>
                <a:ea typeface="Georgia Pro Condensed Light"/>
                <a:cs typeface="Georgia Pro Condensed Light"/>
                <a:sym typeface="Georgia Pro Condensed Light"/>
              </a:rPr>
              <a:t>02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2A9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991600" y="666750"/>
            <a:ext cx="9296400" cy="9620250"/>
            <a:chOff x="0" y="0"/>
            <a:chExt cx="957635" cy="99099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57635" cy="990995"/>
            </a:xfrm>
            <a:custGeom>
              <a:avLst/>
              <a:gdLst/>
              <a:ahLst/>
              <a:cxnLst/>
              <a:rect r="r" b="b" t="t" l="l"/>
              <a:pathLst>
                <a:path h="990995" w="957635">
                  <a:moveTo>
                    <a:pt x="0" y="0"/>
                  </a:moveTo>
                  <a:lnTo>
                    <a:pt x="957635" y="0"/>
                  </a:lnTo>
                  <a:lnTo>
                    <a:pt x="957635" y="990995"/>
                  </a:lnTo>
                  <a:lnTo>
                    <a:pt x="0" y="990995"/>
                  </a:lnTo>
                  <a:close/>
                </a:path>
              </a:pathLst>
            </a:custGeom>
            <a:blipFill>
              <a:blip r:embed="rId2"/>
              <a:stretch>
                <a:fillRect l="0" t="-34052" r="0" b="-80094"/>
              </a:stretch>
            </a:blipFill>
          </p:spPr>
        </p:sp>
      </p:grpSp>
      <p:sp>
        <p:nvSpPr>
          <p:cNvPr name="AutoShape 4" id="4"/>
          <p:cNvSpPr/>
          <p:nvPr/>
        </p:nvSpPr>
        <p:spPr>
          <a:xfrm flipV="true">
            <a:off x="666750" y="9625012"/>
            <a:ext cx="5753100" cy="0"/>
          </a:xfrm>
          <a:prstGeom prst="line">
            <a:avLst/>
          </a:prstGeom>
          <a:ln cap="flat" w="9525">
            <a:solidFill>
              <a:srgbClr val="D8D7C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5" id="5"/>
          <p:cNvSpPr txBox="true"/>
          <p:nvPr/>
        </p:nvSpPr>
        <p:spPr>
          <a:xfrm rot="0">
            <a:off x="666750" y="723900"/>
            <a:ext cx="6886575" cy="1034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920"/>
              </a:lnSpc>
            </a:pPr>
            <a:r>
              <a:rPr lang="en-US" sz="7200">
                <a:solidFill>
                  <a:srgbClr val="000000"/>
                </a:solidFill>
                <a:latin typeface="Georgia Pro Condensed Light"/>
                <a:ea typeface="Georgia Pro Condensed Light"/>
                <a:cs typeface="Georgia Pro Condensed Light"/>
                <a:sym typeface="Georgia Pro Condensed Light"/>
              </a:rPr>
              <a:t>WHY A GAME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436686" y="2302192"/>
            <a:ext cx="6886575" cy="69551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619"/>
              </a:lnSpc>
            </a:pPr>
          </a:p>
          <a:p>
            <a:pPr algn="l" marL="712464" indent="-356232" lvl="1">
              <a:lnSpc>
                <a:spcPts val="4619"/>
              </a:lnSpc>
              <a:buFont typeface="Arial"/>
              <a:buChar char="•"/>
            </a:pPr>
            <a:r>
              <a:rPr lang="en-US" sz="3299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Y</a:t>
            </a:r>
            <a:r>
              <a:rPr lang="en-US" sz="3299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o</a:t>
            </a:r>
            <a:r>
              <a:rPr lang="en-US" sz="3299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u</a:t>
            </a:r>
            <a:r>
              <a:rPr lang="en-US" sz="3299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n</a:t>
            </a:r>
            <a:r>
              <a:rPr lang="en-US" sz="3299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g people learn best through interactive play.</a:t>
            </a:r>
          </a:p>
          <a:p>
            <a:pPr algn="l" marL="712464" indent="-356232" lvl="1">
              <a:lnSpc>
                <a:spcPts val="4619"/>
              </a:lnSpc>
              <a:buFont typeface="Arial"/>
              <a:buChar char="•"/>
            </a:pPr>
            <a:r>
              <a:rPr lang="en-US" sz="3299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Games increase knowledge retention by 50–80%.</a:t>
            </a:r>
          </a:p>
          <a:p>
            <a:pPr algn="l" marL="712464" indent="-356232" lvl="1">
              <a:lnSpc>
                <a:spcPts val="4619"/>
              </a:lnSpc>
              <a:buFont typeface="Arial"/>
              <a:buChar char="•"/>
            </a:pPr>
            <a:r>
              <a:rPr lang="en-US" sz="3299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Safe simulations allow players to practice digital defense skills without real risk.</a:t>
            </a:r>
          </a:p>
          <a:p>
            <a:pPr algn="l" marL="712464" indent="-356232" lvl="1">
              <a:lnSpc>
                <a:spcPts val="4619"/>
              </a:lnSpc>
              <a:buFont typeface="Arial"/>
              <a:buChar char="•"/>
            </a:pPr>
            <a:r>
              <a:rPr lang="en-US" sz="3299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Unlike classroom digital literacy, this is fun, immersive, and self-paced.</a:t>
            </a:r>
          </a:p>
          <a:p>
            <a:pPr algn="l" marL="0" indent="0" lvl="0">
              <a:lnSpc>
                <a:spcPts val="4619"/>
              </a:lnSpc>
            </a:pP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345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750" y="2929425"/>
            <a:ext cx="4314825" cy="3557100"/>
            <a:chOff x="0" y="0"/>
            <a:chExt cx="800847" cy="66021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00847" cy="660210"/>
            </a:xfrm>
            <a:custGeom>
              <a:avLst/>
              <a:gdLst/>
              <a:ahLst/>
              <a:cxnLst/>
              <a:rect r="r" b="b" t="t" l="l"/>
              <a:pathLst>
                <a:path h="660210" w="800847">
                  <a:moveTo>
                    <a:pt x="0" y="0"/>
                  </a:moveTo>
                  <a:lnTo>
                    <a:pt x="800847" y="0"/>
                  </a:lnTo>
                  <a:lnTo>
                    <a:pt x="800847" y="660210"/>
                  </a:lnTo>
                  <a:lnTo>
                    <a:pt x="0" y="660210"/>
                  </a:lnTo>
                  <a:close/>
                </a:path>
              </a:pathLst>
            </a:custGeom>
            <a:blipFill>
              <a:blip r:embed="rId2"/>
              <a:stretch>
                <a:fillRect l="0" t="-2651" r="0" b="-166161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3611225" y="2905125"/>
            <a:ext cx="4676775" cy="3581400"/>
            <a:chOff x="0" y="0"/>
            <a:chExt cx="868026" cy="66472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68026" cy="664720"/>
            </a:xfrm>
            <a:custGeom>
              <a:avLst/>
              <a:gdLst/>
              <a:ahLst/>
              <a:cxnLst/>
              <a:rect r="r" b="b" t="t" l="l"/>
              <a:pathLst>
                <a:path h="664720" w="868026">
                  <a:moveTo>
                    <a:pt x="0" y="0"/>
                  </a:moveTo>
                  <a:lnTo>
                    <a:pt x="868026" y="0"/>
                  </a:lnTo>
                  <a:lnTo>
                    <a:pt x="868026" y="664720"/>
                  </a:lnTo>
                  <a:lnTo>
                    <a:pt x="0" y="664720"/>
                  </a:lnTo>
                  <a:close/>
                </a:path>
              </a:pathLst>
            </a:custGeom>
            <a:blipFill>
              <a:blip r:embed="rId3"/>
              <a:stretch>
                <a:fillRect l="0" t="-67539" r="0" b="-121845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7291387" y="4248150"/>
            <a:ext cx="4010025" cy="3581400"/>
            <a:chOff x="0" y="0"/>
            <a:chExt cx="744275" cy="66472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44275" cy="664720"/>
            </a:xfrm>
            <a:custGeom>
              <a:avLst/>
              <a:gdLst/>
              <a:ahLst/>
              <a:cxnLst/>
              <a:rect r="r" b="b" t="t" l="l"/>
              <a:pathLst>
                <a:path h="664720" w="744275">
                  <a:moveTo>
                    <a:pt x="0" y="0"/>
                  </a:moveTo>
                  <a:lnTo>
                    <a:pt x="744275" y="0"/>
                  </a:lnTo>
                  <a:lnTo>
                    <a:pt x="744275" y="664720"/>
                  </a:lnTo>
                  <a:lnTo>
                    <a:pt x="0" y="664720"/>
                  </a:lnTo>
                  <a:close/>
                </a:path>
              </a:pathLst>
            </a:custGeom>
            <a:blipFill>
              <a:blip r:embed="rId2"/>
              <a:stretch>
                <a:fillRect l="0" t="-28785" r="0" b="-119343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666750" y="723900"/>
            <a:ext cx="15516225" cy="1034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920"/>
              </a:lnSpc>
              <a:spcBef>
                <a:spcPct val="0"/>
              </a:spcBef>
            </a:pPr>
            <a:r>
              <a:rPr lang="en-US" sz="7200" strike="noStrike" u="none">
                <a:solidFill>
                  <a:srgbClr val="D8D7CC"/>
                </a:solidFill>
                <a:latin typeface="Georgia Pro Condensed Light"/>
                <a:ea typeface="Georgia Pro Condensed Light"/>
                <a:cs typeface="Georgia Pro Condensed Light"/>
                <a:sym typeface="Georgia Pro Condensed Light"/>
              </a:rPr>
              <a:t>Accessibility Features for Our Game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666750" y="6953250"/>
            <a:ext cx="4010025" cy="2160906"/>
            <a:chOff x="0" y="0"/>
            <a:chExt cx="5346700" cy="2881208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0" y="0"/>
              <a:ext cx="5346700" cy="6477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840"/>
                </a:lnSpc>
                <a:spcBef>
                  <a:spcPct val="0"/>
                </a:spcBef>
              </a:pPr>
              <a:r>
                <a:rPr lang="en-US" sz="3200">
                  <a:solidFill>
                    <a:srgbClr val="000000"/>
                  </a:solidFill>
                  <a:latin typeface="Georgia Pro Condensed Light"/>
                  <a:ea typeface="Georgia Pro Condensed Light"/>
                  <a:cs typeface="Georgia Pro Condensed Light"/>
                  <a:sym typeface="Georgia Pro Condensed Light"/>
                </a:rPr>
                <a:t>Compatibility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864870"/>
              <a:ext cx="5346700" cy="201633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059"/>
                </a:lnSpc>
                <a:spcBef>
                  <a:spcPct val="0"/>
                </a:spcBef>
              </a:pPr>
              <a:r>
                <a:rPr lang="en-US" sz="2899">
                  <a:solidFill>
                    <a:srgbClr val="FFFFFF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Works seamlessly across various platforms and devices.</a:t>
              </a: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666750" y="1971648"/>
            <a:ext cx="1438275" cy="48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840"/>
              </a:lnSpc>
              <a:spcBef>
                <a:spcPct val="0"/>
              </a:spcBef>
            </a:pPr>
            <a:r>
              <a:rPr lang="en-US" sz="3200">
                <a:solidFill>
                  <a:srgbClr val="324A1E"/>
                </a:solidFill>
                <a:latin typeface="Georgia Pro Condensed Light"/>
                <a:ea typeface="Georgia Pro Condensed Light"/>
                <a:cs typeface="Georgia Pro Condensed Light"/>
                <a:sym typeface="Georgia Pro Condensed Light"/>
              </a:rPr>
              <a:t>01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13611225" y="6934200"/>
            <a:ext cx="4010025" cy="2296161"/>
            <a:chOff x="0" y="0"/>
            <a:chExt cx="5346700" cy="3061548"/>
          </a:xfrm>
        </p:grpSpPr>
        <p:sp>
          <p:nvSpPr>
            <p:cNvPr name="TextBox 14" id="14"/>
            <p:cNvSpPr txBox="true"/>
            <p:nvPr/>
          </p:nvSpPr>
          <p:spPr>
            <a:xfrm rot="0">
              <a:off x="0" y="0"/>
              <a:ext cx="5346700" cy="6477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840"/>
                </a:lnSpc>
                <a:spcBef>
                  <a:spcPct val="0"/>
                </a:spcBef>
              </a:pPr>
              <a:r>
                <a:rPr lang="en-US" sz="3200">
                  <a:solidFill>
                    <a:srgbClr val="000000"/>
                  </a:solidFill>
                  <a:latin typeface="Georgia Pro Condensed Light"/>
                  <a:ea typeface="Georgia Pro Condensed Light"/>
                  <a:cs typeface="Georgia Pro Condensed Light"/>
                  <a:sym typeface="Georgia Pro Condensed Light"/>
                </a:rPr>
                <a:t>Inclusivity</a:t>
              </a:r>
            </a:p>
          </p:txBody>
        </p:sp>
        <p:sp>
          <p:nvSpPr>
            <p:cNvPr name="TextBox 15" id="15"/>
            <p:cNvSpPr txBox="true"/>
            <p:nvPr/>
          </p:nvSpPr>
          <p:spPr>
            <a:xfrm rot="0">
              <a:off x="0" y="855345"/>
              <a:ext cx="5346700" cy="220620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479"/>
                </a:lnSpc>
                <a:spcBef>
                  <a:spcPct val="0"/>
                </a:spcBef>
              </a:pPr>
              <a:r>
                <a:rPr lang="en-US" sz="3199">
                  <a:solidFill>
                    <a:srgbClr val="FFFFFF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Designed to cater to diverse experiences and needs.</a:t>
              </a: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13611225" y="1971648"/>
            <a:ext cx="1438275" cy="48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840"/>
              </a:lnSpc>
              <a:spcBef>
                <a:spcPct val="0"/>
              </a:spcBef>
            </a:pPr>
            <a:r>
              <a:rPr lang="en-US" sz="3200" strike="noStrike" u="none">
                <a:solidFill>
                  <a:srgbClr val="324A1E"/>
                </a:solidFill>
                <a:latin typeface="Georgia Pro Condensed Light"/>
                <a:ea typeface="Georgia Pro Condensed Light"/>
                <a:cs typeface="Georgia Pro Condensed Light"/>
                <a:sym typeface="Georgia Pro Condensed Light"/>
              </a:rPr>
              <a:t>03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7291388" y="8020685"/>
            <a:ext cx="5193209" cy="2186941"/>
            <a:chOff x="0" y="0"/>
            <a:chExt cx="6924279" cy="2915921"/>
          </a:xfrm>
        </p:grpSpPr>
        <p:sp>
          <p:nvSpPr>
            <p:cNvPr name="TextBox 18" id="18"/>
            <p:cNvSpPr txBox="true"/>
            <p:nvPr/>
          </p:nvSpPr>
          <p:spPr>
            <a:xfrm rot="0">
              <a:off x="0" y="0"/>
              <a:ext cx="6924279" cy="6477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840"/>
                </a:lnSpc>
                <a:spcBef>
                  <a:spcPct val="0"/>
                </a:spcBef>
              </a:pPr>
              <a:r>
                <a:rPr lang="en-US" sz="3200" strike="noStrike" u="none">
                  <a:solidFill>
                    <a:srgbClr val="000000"/>
                  </a:solidFill>
                  <a:latin typeface="Georgia Pro Condensed Light"/>
                  <a:ea typeface="Georgia Pro Condensed Light"/>
                  <a:cs typeface="Georgia Pro Condensed Light"/>
                  <a:sym typeface="Georgia Pro Condensed Light"/>
                </a:rPr>
                <a:t>Intuitiveness</a:t>
              </a:r>
            </a:p>
          </p:txBody>
        </p:sp>
        <p:sp>
          <p:nvSpPr>
            <p:cNvPr name="TextBox 19" id="19"/>
            <p:cNvSpPr txBox="true"/>
            <p:nvPr/>
          </p:nvSpPr>
          <p:spPr>
            <a:xfrm rot="0">
              <a:off x="0" y="864870"/>
              <a:ext cx="6924279" cy="205105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199"/>
                </a:lnSpc>
                <a:spcBef>
                  <a:spcPct val="0"/>
                </a:spcBef>
              </a:pPr>
              <a:r>
                <a:rPr lang="en-US" sz="2999" strike="noStrike" u="none">
                  <a:solidFill>
                    <a:srgbClr val="FFFFFF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Simple navigation ensures users of all backgrounds succeed.</a:t>
              </a: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7291388" y="3352800"/>
            <a:ext cx="1438275" cy="48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840"/>
              </a:lnSpc>
              <a:spcBef>
                <a:spcPct val="0"/>
              </a:spcBef>
            </a:pPr>
            <a:r>
              <a:rPr lang="en-US" sz="3200" strike="noStrike" u="none">
                <a:solidFill>
                  <a:srgbClr val="324A1E"/>
                </a:solidFill>
                <a:latin typeface="Georgia Pro Condensed Light"/>
                <a:ea typeface="Georgia Pro Condensed Light"/>
                <a:cs typeface="Georgia Pro Condensed Light"/>
                <a:sym typeface="Georgia Pro Condensed Light"/>
              </a:rPr>
              <a:t>02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2A9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991600" y="666750"/>
            <a:ext cx="9296400" cy="9620250"/>
            <a:chOff x="0" y="0"/>
            <a:chExt cx="957635" cy="99099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57635" cy="990995"/>
            </a:xfrm>
            <a:custGeom>
              <a:avLst/>
              <a:gdLst/>
              <a:ahLst/>
              <a:cxnLst/>
              <a:rect r="r" b="b" t="t" l="l"/>
              <a:pathLst>
                <a:path h="990995" w="957635">
                  <a:moveTo>
                    <a:pt x="0" y="0"/>
                  </a:moveTo>
                  <a:lnTo>
                    <a:pt x="957635" y="0"/>
                  </a:lnTo>
                  <a:lnTo>
                    <a:pt x="957635" y="990995"/>
                  </a:lnTo>
                  <a:lnTo>
                    <a:pt x="0" y="990995"/>
                  </a:lnTo>
                  <a:close/>
                </a:path>
              </a:pathLst>
            </a:custGeom>
            <a:blipFill>
              <a:blip r:embed="rId2"/>
              <a:stretch>
                <a:fillRect l="0" t="-69" r="0" b="-69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666750" y="723900"/>
            <a:ext cx="6886575" cy="2034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920"/>
              </a:lnSpc>
            </a:pPr>
            <a:r>
              <a:rPr lang="en-US" sz="7200">
                <a:solidFill>
                  <a:srgbClr val="324A1E"/>
                </a:solidFill>
                <a:latin typeface="Georgia Pro Condensed Light"/>
                <a:ea typeface="Georgia Pro Condensed Light"/>
                <a:cs typeface="Georgia Pro Condensed Light"/>
                <a:sym typeface="Georgia Pro Condensed Light"/>
              </a:rPr>
              <a:t>Collaborative Partnerships</a:t>
            </a:r>
          </a:p>
        </p:txBody>
      </p:sp>
      <p:sp>
        <p:nvSpPr>
          <p:cNvPr name="AutoShape 5" id="5"/>
          <p:cNvSpPr/>
          <p:nvPr/>
        </p:nvSpPr>
        <p:spPr>
          <a:xfrm flipV="true">
            <a:off x="666750" y="9625012"/>
            <a:ext cx="5753100" cy="0"/>
          </a:xfrm>
          <a:prstGeom prst="line">
            <a:avLst/>
          </a:prstGeom>
          <a:ln cap="flat" w="9525">
            <a:solidFill>
              <a:srgbClr val="324A1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6" id="6"/>
          <p:cNvSpPr txBox="true"/>
          <p:nvPr/>
        </p:nvSpPr>
        <p:spPr>
          <a:xfrm rot="0">
            <a:off x="0" y="3644581"/>
            <a:ext cx="8324850" cy="59804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20411" indent="-410205" lvl="1">
              <a:lnSpc>
                <a:spcPts val="5319"/>
              </a:lnSpc>
              <a:buFont typeface="Arial"/>
              <a:buChar char="•"/>
            </a:pPr>
            <a:r>
              <a:rPr lang="en-US" sz="3799">
                <a:solidFill>
                  <a:srgbClr val="324A1E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Schoo</a:t>
            </a:r>
            <a:r>
              <a:rPr lang="en-US" sz="3799">
                <a:solidFill>
                  <a:srgbClr val="324A1E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ls integrating digital literacy into curriculum</a:t>
            </a:r>
          </a:p>
          <a:p>
            <a:pPr algn="l" marL="820411" indent="-410205" lvl="1">
              <a:lnSpc>
                <a:spcPts val="5319"/>
              </a:lnSpc>
              <a:buFont typeface="Arial"/>
              <a:buChar char="•"/>
            </a:pPr>
            <a:r>
              <a:rPr lang="en-US" sz="3799">
                <a:solidFill>
                  <a:srgbClr val="324A1E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NGOs </a:t>
            </a:r>
            <a:r>
              <a:rPr lang="en-US" sz="3799">
                <a:solidFill>
                  <a:srgbClr val="324A1E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w</a:t>
            </a:r>
            <a:r>
              <a:rPr lang="en-US" sz="3799">
                <a:solidFill>
                  <a:srgbClr val="324A1E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o</a:t>
            </a:r>
            <a:r>
              <a:rPr lang="en-US" sz="3799">
                <a:solidFill>
                  <a:srgbClr val="324A1E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rki</a:t>
            </a:r>
            <a:r>
              <a:rPr lang="en-US" sz="3799">
                <a:solidFill>
                  <a:srgbClr val="324A1E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n</a:t>
            </a:r>
            <a:r>
              <a:rPr lang="en-US" sz="3799">
                <a:solidFill>
                  <a:srgbClr val="324A1E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g</a:t>
            </a:r>
            <a:r>
              <a:rPr lang="en-US" sz="3799">
                <a:solidFill>
                  <a:srgbClr val="324A1E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o</a:t>
            </a:r>
            <a:r>
              <a:rPr lang="en-US" sz="3799">
                <a:solidFill>
                  <a:srgbClr val="324A1E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n GBV</a:t>
            </a:r>
            <a:r>
              <a:rPr lang="en-US" sz="3799">
                <a:solidFill>
                  <a:srgbClr val="324A1E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pr</a:t>
            </a:r>
            <a:r>
              <a:rPr lang="en-US" sz="3799">
                <a:solidFill>
                  <a:srgbClr val="324A1E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evention</a:t>
            </a:r>
          </a:p>
          <a:p>
            <a:pPr algn="l" marL="820411" indent="-410205" lvl="1">
              <a:lnSpc>
                <a:spcPts val="5319"/>
              </a:lnSpc>
              <a:buFont typeface="Arial"/>
              <a:buChar char="•"/>
            </a:pPr>
            <a:r>
              <a:rPr lang="en-US" sz="3799">
                <a:solidFill>
                  <a:srgbClr val="324A1E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Government e-safety programs</a:t>
            </a:r>
          </a:p>
          <a:p>
            <a:pPr algn="l" marL="820411" indent="-410205" lvl="1">
              <a:lnSpc>
                <a:spcPts val="5319"/>
              </a:lnSpc>
              <a:buFont typeface="Arial"/>
              <a:buChar char="•"/>
            </a:pPr>
            <a:r>
              <a:rPr lang="en-US" sz="3799">
                <a:solidFill>
                  <a:srgbClr val="324A1E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Parents seeking safe learning platforms</a:t>
            </a:r>
          </a:p>
          <a:p>
            <a:pPr algn="l" marL="820411" indent="-410205" lvl="1">
              <a:lnSpc>
                <a:spcPts val="5319"/>
              </a:lnSpc>
              <a:buFont typeface="Arial"/>
              <a:buChar char="•"/>
            </a:pPr>
            <a:r>
              <a:rPr lang="en-US" sz="3799">
                <a:solidFill>
                  <a:srgbClr val="324A1E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EdTech and health-tech ecosystems</a:t>
            </a:r>
          </a:p>
          <a:p>
            <a:pPr algn="l" marL="0" indent="0" lvl="0">
              <a:lnSpc>
                <a:spcPts val="5319"/>
              </a:lnSpc>
            </a:pP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345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648924" y="4762"/>
            <a:ext cx="8639076" cy="9620250"/>
            <a:chOff x="0" y="0"/>
            <a:chExt cx="889923" cy="99099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89923" cy="990995"/>
            </a:xfrm>
            <a:custGeom>
              <a:avLst/>
              <a:gdLst/>
              <a:ahLst/>
              <a:cxnLst/>
              <a:rect r="r" b="b" t="t" l="l"/>
              <a:pathLst>
                <a:path h="990995" w="889923">
                  <a:moveTo>
                    <a:pt x="0" y="0"/>
                  </a:moveTo>
                  <a:lnTo>
                    <a:pt x="889923" y="0"/>
                  </a:lnTo>
                  <a:lnTo>
                    <a:pt x="889923" y="990995"/>
                  </a:lnTo>
                  <a:lnTo>
                    <a:pt x="0" y="990995"/>
                  </a:lnTo>
                  <a:close/>
                </a:path>
              </a:pathLst>
            </a:custGeom>
            <a:blipFill>
              <a:blip r:embed="rId2"/>
              <a:stretch>
                <a:fillRect l="0" t="-49577" r="0" b="-49577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338088" y="296639"/>
            <a:ext cx="6886575" cy="21742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469"/>
              </a:lnSpc>
            </a:pPr>
            <a:r>
              <a:rPr lang="en-US" sz="7699">
                <a:solidFill>
                  <a:srgbClr val="D8D7CC"/>
                </a:solidFill>
                <a:latin typeface="Georgia Pro Condensed Light"/>
                <a:ea typeface="Georgia Pro Condensed Light"/>
                <a:cs typeface="Georgia Pro Condensed Light"/>
                <a:sym typeface="Georgia Pro Condensed Light"/>
              </a:rPr>
              <a:t>Launch Plan &amp; Enhancements</a:t>
            </a:r>
          </a:p>
        </p:txBody>
      </p:sp>
      <p:sp>
        <p:nvSpPr>
          <p:cNvPr name="AutoShape 5" id="5"/>
          <p:cNvSpPr/>
          <p:nvPr/>
        </p:nvSpPr>
        <p:spPr>
          <a:xfrm flipV="true">
            <a:off x="666750" y="9625012"/>
            <a:ext cx="5753100" cy="0"/>
          </a:xfrm>
          <a:prstGeom prst="line">
            <a:avLst/>
          </a:prstGeom>
          <a:ln cap="flat" w="9525">
            <a:solidFill>
              <a:srgbClr val="D8D7C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6" id="6"/>
          <p:cNvSpPr txBox="true"/>
          <p:nvPr/>
        </p:nvSpPr>
        <p:spPr>
          <a:xfrm rot="0">
            <a:off x="338088" y="3328986"/>
            <a:ext cx="8398421" cy="62960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299"/>
              </a:lnSpc>
            </a:pPr>
            <a:r>
              <a:rPr lang="en-US" sz="4499">
                <a:solidFill>
                  <a:srgbClr val="D8D7CC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P</a:t>
            </a:r>
            <a:r>
              <a:rPr lang="en-US" sz="4499">
                <a:solidFill>
                  <a:srgbClr val="D8D7CC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hase 1: Prototype + Test wit</a:t>
            </a:r>
            <a:r>
              <a:rPr lang="en-US" sz="4499">
                <a:solidFill>
                  <a:srgbClr val="D8D7CC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h 50 young people</a:t>
            </a:r>
          </a:p>
          <a:p>
            <a:pPr algn="l" marL="0" indent="0" lvl="0">
              <a:lnSpc>
                <a:spcPts val="6299"/>
              </a:lnSpc>
            </a:pPr>
            <a:r>
              <a:rPr lang="en-US" sz="4499">
                <a:solidFill>
                  <a:srgbClr val="D8D7CC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Phase 2: Core game development</a:t>
            </a:r>
          </a:p>
          <a:p>
            <a:pPr algn="l" marL="0" indent="0" lvl="0">
              <a:lnSpc>
                <a:spcPts val="6299"/>
              </a:lnSpc>
            </a:pPr>
            <a:r>
              <a:rPr lang="en-US" sz="4499">
                <a:solidFill>
                  <a:srgbClr val="D8D7CC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Phase 3: Partnerships with schools, youth groups &amp; NGOs</a:t>
            </a:r>
          </a:p>
          <a:p>
            <a:pPr algn="l" marL="0" indent="0" lvl="0">
              <a:lnSpc>
                <a:spcPts val="6299"/>
              </a:lnSpc>
            </a:pPr>
            <a:r>
              <a:rPr lang="en-US" sz="4499">
                <a:solidFill>
                  <a:srgbClr val="D8D7CC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Phase 4: Scaling across Kenya &amp; beyond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2A9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750" y="2929425"/>
            <a:ext cx="4314825" cy="3557100"/>
            <a:chOff x="0" y="0"/>
            <a:chExt cx="800847" cy="66021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00847" cy="660210"/>
            </a:xfrm>
            <a:custGeom>
              <a:avLst/>
              <a:gdLst/>
              <a:ahLst/>
              <a:cxnLst/>
              <a:rect r="r" b="b" t="t" l="l"/>
              <a:pathLst>
                <a:path h="660210" w="800847">
                  <a:moveTo>
                    <a:pt x="0" y="0"/>
                  </a:moveTo>
                  <a:lnTo>
                    <a:pt x="800847" y="0"/>
                  </a:lnTo>
                  <a:lnTo>
                    <a:pt x="800847" y="660210"/>
                  </a:lnTo>
                  <a:lnTo>
                    <a:pt x="0" y="660210"/>
                  </a:lnTo>
                  <a:close/>
                </a:path>
              </a:pathLst>
            </a:custGeom>
            <a:blipFill>
              <a:blip r:embed="rId2"/>
              <a:stretch>
                <a:fillRect l="0" t="-102556" r="0" b="-66256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2749212" y="2929425"/>
            <a:ext cx="4676775" cy="3581400"/>
            <a:chOff x="0" y="0"/>
            <a:chExt cx="868026" cy="66472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68026" cy="664720"/>
            </a:xfrm>
            <a:custGeom>
              <a:avLst/>
              <a:gdLst/>
              <a:ahLst/>
              <a:cxnLst/>
              <a:rect r="r" b="b" t="t" l="l"/>
              <a:pathLst>
                <a:path h="664720" w="868026">
                  <a:moveTo>
                    <a:pt x="0" y="0"/>
                  </a:moveTo>
                  <a:lnTo>
                    <a:pt x="868026" y="0"/>
                  </a:lnTo>
                  <a:lnTo>
                    <a:pt x="868026" y="664720"/>
                  </a:lnTo>
                  <a:lnTo>
                    <a:pt x="0" y="664720"/>
                  </a:lnTo>
                  <a:close/>
                </a:path>
              </a:pathLst>
            </a:custGeom>
            <a:blipFill>
              <a:blip r:embed="rId3"/>
              <a:stretch>
                <a:fillRect l="-51" t="0" r="-51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6419850" y="3186086"/>
            <a:ext cx="4010025" cy="3581400"/>
            <a:chOff x="0" y="0"/>
            <a:chExt cx="744275" cy="66472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44275" cy="664720"/>
            </a:xfrm>
            <a:custGeom>
              <a:avLst/>
              <a:gdLst/>
              <a:ahLst/>
              <a:cxnLst/>
              <a:rect r="r" b="b" t="t" l="l"/>
              <a:pathLst>
                <a:path h="664720" w="744275">
                  <a:moveTo>
                    <a:pt x="0" y="0"/>
                  </a:moveTo>
                  <a:lnTo>
                    <a:pt x="744275" y="0"/>
                  </a:lnTo>
                  <a:lnTo>
                    <a:pt x="744275" y="664720"/>
                  </a:lnTo>
                  <a:lnTo>
                    <a:pt x="0" y="664720"/>
                  </a:lnTo>
                  <a:close/>
                </a:path>
              </a:pathLst>
            </a:custGeom>
            <a:blipFill>
              <a:blip r:embed="rId4"/>
              <a:stretch>
                <a:fillRect l="0" t="-74064" r="0" b="-74064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666750" y="723900"/>
            <a:ext cx="15516225" cy="1034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920"/>
              </a:lnSpc>
              <a:spcBef>
                <a:spcPct val="0"/>
              </a:spcBef>
            </a:pPr>
            <a:r>
              <a:rPr lang="en-US" sz="7200" strike="noStrike" u="none">
                <a:solidFill>
                  <a:srgbClr val="000000"/>
                </a:solidFill>
                <a:latin typeface="Georgia Pro Condensed Light"/>
                <a:ea typeface="Georgia Pro Condensed Light"/>
                <a:cs typeface="Georgia Pro Condensed Light"/>
                <a:sym typeface="Georgia Pro Condensed Light"/>
              </a:rPr>
              <a:t>Competitive Advantage of Our Game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666750" y="6953250"/>
            <a:ext cx="4010025" cy="2360360"/>
            <a:chOff x="0" y="0"/>
            <a:chExt cx="5346700" cy="3147147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0" y="0"/>
              <a:ext cx="5346700" cy="11049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6599"/>
                </a:lnSpc>
                <a:spcBef>
                  <a:spcPct val="0"/>
                </a:spcBef>
              </a:pPr>
              <a:r>
                <a:rPr lang="en-US" sz="5499">
                  <a:solidFill>
                    <a:srgbClr val="105E63"/>
                  </a:solidFill>
                  <a:latin typeface="Georgia Pro Condensed Light"/>
                  <a:ea typeface="Georgia Pro Condensed Light"/>
                  <a:cs typeface="Georgia Pro Condensed Light"/>
                  <a:sym typeface="Georgia Pro Condensed Light"/>
                </a:rPr>
                <a:t>Unique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1303020"/>
              <a:ext cx="5346700" cy="184412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5666"/>
                </a:lnSpc>
                <a:spcBef>
                  <a:spcPct val="0"/>
                </a:spcBef>
              </a:pPr>
              <a:r>
                <a:rPr lang="en-US" sz="4047">
                  <a:solidFill>
                    <a:srgbClr val="000000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G</a:t>
              </a:r>
              <a:r>
                <a:rPr lang="en-US" sz="4047">
                  <a:solidFill>
                    <a:srgbClr val="000000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amified, not just educational</a:t>
              </a: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666750" y="1971648"/>
            <a:ext cx="1438275" cy="48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840"/>
              </a:lnSpc>
              <a:spcBef>
                <a:spcPct val="0"/>
              </a:spcBef>
            </a:pPr>
            <a:r>
              <a:rPr lang="en-US" sz="3200">
                <a:solidFill>
                  <a:srgbClr val="000000"/>
                </a:solidFill>
                <a:latin typeface="Georgia Pro Condensed Light"/>
                <a:ea typeface="Georgia Pro Condensed Light"/>
                <a:cs typeface="Georgia Pro Condensed Light"/>
                <a:sym typeface="Georgia Pro Condensed Light"/>
              </a:rPr>
              <a:t>01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12417193" y="6934200"/>
            <a:ext cx="5870807" cy="3074735"/>
            <a:chOff x="0" y="0"/>
            <a:chExt cx="7827743" cy="4099647"/>
          </a:xfrm>
        </p:grpSpPr>
        <p:sp>
          <p:nvSpPr>
            <p:cNvPr name="TextBox 14" id="14"/>
            <p:cNvSpPr txBox="true"/>
            <p:nvPr/>
          </p:nvSpPr>
          <p:spPr>
            <a:xfrm rot="0">
              <a:off x="0" y="0"/>
              <a:ext cx="7827743" cy="11049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6599"/>
                </a:lnSpc>
                <a:spcBef>
                  <a:spcPct val="0"/>
                </a:spcBef>
              </a:pPr>
              <a:r>
                <a:rPr lang="en-US" sz="5499">
                  <a:solidFill>
                    <a:srgbClr val="105E63"/>
                  </a:solidFill>
                  <a:latin typeface="Georgia Pro Condensed Light"/>
                  <a:ea typeface="Georgia Pro Condensed Light"/>
                  <a:cs typeface="Georgia Pro Condensed Light"/>
                  <a:sym typeface="Georgia Pro Condensed Light"/>
                </a:rPr>
                <a:t>Scalability</a:t>
              </a:r>
            </a:p>
          </p:txBody>
        </p:sp>
        <p:sp>
          <p:nvSpPr>
            <p:cNvPr name="TextBox 15" id="15"/>
            <p:cNvSpPr txBox="true"/>
            <p:nvPr/>
          </p:nvSpPr>
          <p:spPr>
            <a:xfrm rot="0">
              <a:off x="0" y="1303020"/>
              <a:ext cx="7827743" cy="279662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5666"/>
                </a:lnSpc>
                <a:spcBef>
                  <a:spcPct val="0"/>
                </a:spcBef>
              </a:pPr>
              <a:r>
                <a:rPr lang="en-US" sz="4047">
                  <a:solidFill>
                    <a:srgbClr val="000000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Expansion potential to reach wider audiences effectively.</a:t>
              </a: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12749212" y="2214536"/>
            <a:ext cx="1438275" cy="48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840"/>
              </a:lnSpc>
              <a:spcBef>
                <a:spcPct val="0"/>
              </a:spcBef>
            </a:pPr>
            <a:r>
              <a:rPr lang="en-US" sz="3200" strike="noStrike" u="none">
                <a:solidFill>
                  <a:srgbClr val="000000"/>
                </a:solidFill>
                <a:latin typeface="Georgia Pro Condensed Light"/>
                <a:ea typeface="Georgia Pro Condensed Light"/>
                <a:cs typeface="Georgia Pro Condensed Light"/>
                <a:sym typeface="Georgia Pro Condensed Light"/>
              </a:rPr>
              <a:t>03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6175607" y="7294537"/>
            <a:ext cx="6241586" cy="3060111"/>
            <a:chOff x="0" y="0"/>
            <a:chExt cx="8322114" cy="4080148"/>
          </a:xfrm>
        </p:grpSpPr>
        <p:sp>
          <p:nvSpPr>
            <p:cNvPr name="TextBox 18" id="18"/>
            <p:cNvSpPr txBox="true"/>
            <p:nvPr/>
          </p:nvSpPr>
          <p:spPr>
            <a:xfrm rot="0">
              <a:off x="0" y="-9525"/>
              <a:ext cx="8322114" cy="1127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6661"/>
                </a:lnSpc>
                <a:spcBef>
                  <a:spcPct val="0"/>
                </a:spcBef>
              </a:pPr>
              <a:r>
                <a:rPr lang="en-US" sz="5551" strike="noStrike" u="none">
                  <a:solidFill>
                    <a:srgbClr val="105E63"/>
                  </a:solidFill>
                  <a:latin typeface="Georgia Pro Condensed Light"/>
                  <a:ea typeface="Georgia Pro Condensed Light"/>
                  <a:cs typeface="Georgia Pro Condensed Light"/>
                  <a:sym typeface="Georgia Pro Condensed Light"/>
                </a:rPr>
                <a:t>Engagement</a:t>
              </a:r>
            </a:p>
          </p:txBody>
        </p:sp>
        <p:sp>
          <p:nvSpPr>
            <p:cNvPr name="TextBox 19" id="19"/>
            <p:cNvSpPr txBox="true"/>
            <p:nvPr/>
          </p:nvSpPr>
          <p:spPr>
            <a:xfrm rot="0">
              <a:off x="0" y="1282770"/>
              <a:ext cx="8322114" cy="279737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5635"/>
                </a:lnSpc>
                <a:spcBef>
                  <a:spcPct val="0"/>
                </a:spcBef>
              </a:pPr>
              <a:r>
                <a:rPr lang="en-US" sz="4025">
                  <a:solidFill>
                    <a:srgbClr val="000000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Ac</a:t>
              </a:r>
              <a:r>
                <a:rPr lang="en-US" sz="4025" strike="noStrike" u="none">
                  <a:solidFill>
                    <a:srgbClr val="000000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cess</a:t>
              </a:r>
              <a:r>
                <a:rPr lang="en-US" sz="4025" strike="noStrike" u="none">
                  <a:solidFill>
                    <a:srgbClr val="000000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ibl</a:t>
              </a:r>
              <a:r>
                <a:rPr lang="en-US" sz="4025" strike="noStrike" u="none">
                  <a:solidFill>
                    <a:srgbClr val="000000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e </a:t>
              </a:r>
              <a:r>
                <a:rPr lang="en-US" sz="4025" strike="noStrike" u="none">
                  <a:solidFill>
                    <a:srgbClr val="000000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(web-b</a:t>
              </a:r>
              <a:r>
                <a:rPr lang="en-US" sz="4025" strike="noStrike" u="none">
                  <a:solidFill>
                    <a:srgbClr val="000000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a</a:t>
              </a:r>
              <a:r>
                <a:rPr lang="en-US" sz="4025" strike="noStrike" u="none">
                  <a:solidFill>
                    <a:srgbClr val="000000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s</a:t>
              </a:r>
              <a:r>
                <a:rPr lang="en-US" sz="4025" strike="noStrike" u="none">
                  <a:solidFill>
                    <a:srgbClr val="000000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e</a:t>
              </a:r>
              <a:r>
                <a:rPr lang="en-US" sz="4025" strike="noStrike" u="none">
                  <a:solidFill>
                    <a:srgbClr val="000000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d,</a:t>
              </a:r>
              <a:r>
                <a:rPr lang="en-US" sz="4025" strike="noStrike" u="none">
                  <a:solidFill>
                    <a:srgbClr val="000000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 </a:t>
              </a:r>
              <a:r>
                <a:rPr lang="en-US" sz="4025" strike="noStrike" u="none">
                  <a:solidFill>
                    <a:srgbClr val="000000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mob</a:t>
              </a:r>
              <a:r>
                <a:rPr lang="en-US" sz="4025" strike="noStrike" u="none">
                  <a:solidFill>
                    <a:srgbClr val="000000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ile</a:t>
              </a:r>
              <a:r>
                <a:rPr lang="en-US" sz="4025" strike="noStrike" u="none">
                  <a:solidFill>
                    <a:srgbClr val="000000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-fi</a:t>
              </a:r>
              <a:r>
                <a:rPr lang="en-US" sz="4025" strike="noStrike" u="none">
                  <a:solidFill>
                    <a:srgbClr val="000000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rs</a:t>
              </a:r>
              <a:r>
                <a:rPr lang="en-US" sz="4025" strike="noStrike" u="none">
                  <a:solidFill>
                    <a:srgbClr val="000000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t)</a:t>
              </a:r>
            </a:p>
            <a:p>
              <a:pPr algn="l" marL="0" indent="0" lvl="0">
                <a:lnSpc>
                  <a:spcPts val="5635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6419850" y="2457423"/>
            <a:ext cx="1438275" cy="48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840"/>
              </a:lnSpc>
              <a:spcBef>
                <a:spcPct val="0"/>
              </a:spcBef>
            </a:pPr>
            <a:r>
              <a:rPr lang="en-US" sz="3200" strike="noStrike" u="none">
                <a:solidFill>
                  <a:srgbClr val="000000"/>
                </a:solidFill>
                <a:latin typeface="Georgia Pro Condensed Light"/>
                <a:ea typeface="Georgia Pro Condensed Light"/>
                <a:cs typeface="Georgia Pro Condensed Light"/>
                <a:sym typeface="Georgia Pro Condensed Light"/>
              </a:rPr>
              <a:t>02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345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991600" y="4762"/>
            <a:ext cx="9296400" cy="9620250"/>
            <a:chOff x="0" y="0"/>
            <a:chExt cx="957635" cy="99099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57635" cy="990995"/>
            </a:xfrm>
            <a:custGeom>
              <a:avLst/>
              <a:gdLst/>
              <a:ahLst/>
              <a:cxnLst/>
              <a:rect r="r" b="b" t="t" l="l"/>
              <a:pathLst>
                <a:path h="990995" w="957635">
                  <a:moveTo>
                    <a:pt x="0" y="0"/>
                  </a:moveTo>
                  <a:lnTo>
                    <a:pt x="957635" y="0"/>
                  </a:lnTo>
                  <a:lnTo>
                    <a:pt x="957635" y="990995"/>
                  </a:lnTo>
                  <a:lnTo>
                    <a:pt x="0" y="990995"/>
                  </a:lnTo>
                  <a:close/>
                </a:path>
              </a:pathLst>
            </a:custGeom>
            <a:blipFill>
              <a:blip r:embed="rId2"/>
              <a:stretch>
                <a:fillRect l="0" t="-69" r="0" b="-69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666750" y="723900"/>
            <a:ext cx="6886575" cy="1034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920"/>
              </a:lnSpc>
            </a:pPr>
            <a:r>
              <a:rPr lang="en-US" sz="7200">
                <a:solidFill>
                  <a:srgbClr val="FFFFFF"/>
                </a:solidFill>
                <a:latin typeface="Georgia Pro Condensed Light"/>
                <a:ea typeface="Georgia Pro Condensed Light"/>
                <a:cs typeface="Georgia Pro Condensed Light"/>
                <a:sym typeface="Georgia Pro Condensed Light"/>
              </a:rPr>
              <a:t>OUR ASK</a:t>
            </a:r>
          </a:p>
        </p:txBody>
      </p:sp>
      <p:sp>
        <p:nvSpPr>
          <p:cNvPr name="AutoShape 5" id="5"/>
          <p:cNvSpPr/>
          <p:nvPr/>
        </p:nvSpPr>
        <p:spPr>
          <a:xfrm flipV="true">
            <a:off x="666750" y="9625012"/>
            <a:ext cx="5753100" cy="0"/>
          </a:xfrm>
          <a:prstGeom prst="line">
            <a:avLst/>
          </a:prstGeom>
          <a:ln cap="flat" w="9525">
            <a:solidFill>
              <a:srgbClr val="324A1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6" id="6"/>
          <p:cNvSpPr txBox="true"/>
          <p:nvPr/>
        </p:nvSpPr>
        <p:spPr>
          <a:xfrm rot="0">
            <a:off x="403820" y="1831021"/>
            <a:ext cx="6886575" cy="7793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159"/>
              </a:lnSpc>
            </a:pPr>
            <a:r>
              <a:rPr lang="en-US" sz="4399">
                <a:solidFill>
                  <a:srgbClr val="FFFFFF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</a:t>
            </a:r>
          </a:p>
          <a:p>
            <a:pPr algn="l" marL="949948" indent="-474974" lvl="1">
              <a:lnSpc>
                <a:spcPts val="6159"/>
              </a:lnSpc>
              <a:buFont typeface="Arial"/>
              <a:buChar char="•"/>
            </a:pPr>
            <a:r>
              <a:rPr lang="en-US" sz="4399">
                <a:solidFill>
                  <a:srgbClr val="FFFFFF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Support i</a:t>
            </a:r>
            <a:r>
              <a:rPr lang="en-US" sz="4399">
                <a:solidFill>
                  <a:srgbClr val="FFFFFF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n s</a:t>
            </a:r>
            <a:r>
              <a:rPr lang="en-US" sz="4399">
                <a:solidFill>
                  <a:srgbClr val="FFFFFF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c</a:t>
            </a:r>
            <a:r>
              <a:rPr lang="en-US" sz="4399">
                <a:solidFill>
                  <a:srgbClr val="FFFFFF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a</a:t>
            </a:r>
            <a:r>
              <a:rPr lang="en-US" sz="4399">
                <a:solidFill>
                  <a:srgbClr val="FFFFFF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ling the prototype</a:t>
            </a:r>
          </a:p>
          <a:p>
            <a:pPr algn="l" marL="949948" indent="-474974" lvl="1">
              <a:lnSpc>
                <a:spcPts val="6159"/>
              </a:lnSpc>
              <a:buFont typeface="Arial"/>
              <a:buChar char="•"/>
            </a:pPr>
            <a:r>
              <a:rPr lang="en-US" sz="4399">
                <a:solidFill>
                  <a:srgbClr val="FFFFFF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Mentorship</a:t>
            </a:r>
          </a:p>
          <a:p>
            <a:pPr algn="l" marL="949948" indent="-474974" lvl="1">
              <a:lnSpc>
                <a:spcPts val="6159"/>
              </a:lnSpc>
              <a:buFont typeface="Arial"/>
              <a:buChar char="•"/>
            </a:pPr>
            <a:r>
              <a:rPr lang="en-US" sz="4399">
                <a:solidFill>
                  <a:srgbClr val="FFFFFF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Funding for further game development</a:t>
            </a:r>
          </a:p>
          <a:p>
            <a:pPr algn="l" marL="949948" indent="-474974" lvl="1">
              <a:lnSpc>
                <a:spcPts val="6159"/>
              </a:lnSpc>
              <a:buFont typeface="Arial"/>
              <a:buChar char="•"/>
            </a:pPr>
            <a:r>
              <a:rPr lang="en-US" sz="4399">
                <a:solidFill>
                  <a:srgbClr val="FFFFFF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Access to networks working on women’s digital safety</a:t>
            </a:r>
          </a:p>
          <a:p>
            <a:pPr algn="l" marL="0" indent="0" lvl="0">
              <a:lnSpc>
                <a:spcPts val="6159"/>
              </a:lnSpc>
            </a:pP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8C52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750" y="2929425"/>
            <a:ext cx="4314825" cy="3557100"/>
            <a:chOff x="0" y="0"/>
            <a:chExt cx="800847" cy="66021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00847" cy="660210"/>
            </a:xfrm>
            <a:custGeom>
              <a:avLst/>
              <a:gdLst/>
              <a:ahLst/>
              <a:cxnLst/>
              <a:rect r="r" b="b" t="t" l="l"/>
              <a:pathLst>
                <a:path h="660210" w="800847">
                  <a:moveTo>
                    <a:pt x="0" y="0"/>
                  </a:moveTo>
                  <a:lnTo>
                    <a:pt x="800847" y="0"/>
                  </a:lnTo>
                  <a:lnTo>
                    <a:pt x="800847" y="660210"/>
                  </a:lnTo>
                  <a:lnTo>
                    <a:pt x="0" y="660210"/>
                  </a:lnTo>
                  <a:close/>
                </a:path>
              </a:pathLst>
            </a:custGeom>
            <a:blipFill>
              <a:blip r:embed="rId2"/>
              <a:stretch>
                <a:fillRect l="0" t="-36227" r="0" b="-132433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3277850" y="2905125"/>
            <a:ext cx="4676775" cy="3581400"/>
            <a:chOff x="0" y="0"/>
            <a:chExt cx="868026" cy="66472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68026" cy="664720"/>
            </a:xfrm>
            <a:custGeom>
              <a:avLst/>
              <a:gdLst/>
              <a:ahLst/>
              <a:cxnLst/>
              <a:rect r="r" b="b" t="t" l="l"/>
              <a:pathLst>
                <a:path h="664720" w="868026">
                  <a:moveTo>
                    <a:pt x="0" y="0"/>
                  </a:moveTo>
                  <a:lnTo>
                    <a:pt x="868026" y="0"/>
                  </a:lnTo>
                  <a:lnTo>
                    <a:pt x="868026" y="664720"/>
                  </a:lnTo>
                  <a:lnTo>
                    <a:pt x="0" y="664720"/>
                  </a:lnTo>
                  <a:close/>
                </a:path>
              </a:pathLst>
            </a:custGeom>
            <a:blipFill>
              <a:blip r:embed="rId3"/>
              <a:stretch>
                <a:fillRect l="0" t="-76372" r="0" b="-112849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7291387" y="3751087"/>
            <a:ext cx="4010025" cy="3581400"/>
            <a:chOff x="0" y="0"/>
            <a:chExt cx="744275" cy="66472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44275" cy="664720"/>
            </a:xfrm>
            <a:custGeom>
              <a:avLst/>
              <a:gdLst/>
              <a:ahLst/>
              <a:cxnLst/>
              <a:rect r="r" b="b" t="t" l="l"/>
              <a:pathLst>
                <a:path h="664720" w="744275">
                  <a:moveTo>
                    <a:pt x="0" y="0"/>
                  </a:moveTo>
                  <a:lnTo>
                    <a:pt x="744275" y="0"/>
                  </a:lnTo>
                  <a:lnTo>
                    <a:pt x="744275" y="664720"/>
                  </a:lnTo>
                  <a:lnTo>
                    <a:pt x="0" y="664720"/>
                  </a:lnTo>
                  <a:close/>
                </a:path>
              </a:pathLst>
            </a:custGeom>
            <a:blipFill>
              <a:blip r:embed="rId4"/>
              <a:stretch>
                <a:fillRect l="0" t="-46986" r="0" b="-101142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666750" y="723900"/>
            <a:ext cx="15516225" cy="1034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920"/>
              </a:lnSpc>
              <a:spcBef>
                <a:spcPct val="0"/>
              </a:spcBef>
            </a:pPr>
            <a:r>
              <a:rPr lang="en-US" sz="7200" strike="noStrike" u="none">
                <a:solidFill>
                  <a:srgbClr val="D8D7CC"/>
                </a:solidFill>
                <a:latin typeface="Georgia Pro Condensed Light"/>
                <a:ea typeface="Georgia Pro Condensed Light"/>
                <a:cs typeface="Georgia Pro Condensed Light"/>
                <a:sym typeface="Georgia Pro Condensed Light"/>
              </a:rPr>
              <a:t>Addressing Gender Equality and Safety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666750" y="6953250"/>
            <a:ext cx="5102051" cy="1780170"/>
            <a:chOff x="0" y="0"/>
            <a:chExt cx="6802735" cy="2373560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0" y="-9525"/>
              <a:ext cx="6802735" cy="70283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110"/>
                </a:lnSpc>
                <a:spcBef>
                  <a:spcPct val="0"/>
                </a:spcBef>
              </a:pPr>
              <a:r>
                <a:rPr lang="en-US" sz="3425">
                  <a:solidFill>
                    <a:srgbClr val="324A1E"/>
                  </a:solidFill>
                  <a:latin typeface="Georgia Pro Condensed Light"/>
                  <a:ea typeface="Georgia Pro Condensed Light"/>
                  <a:cs typeface="Georgia Pro Condensed Light"/>
                  <a:sym typeface="Georgia Pro Condensed Light"/>
                </a:rPr>
                <a:t>Equality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939319"/>
              <a:ext cx="6802735" cy="143424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495"/>
                </a:lnSpc>
                <a:spcBef>
                  <a:spcPct val="0"/>
                </a:spcBef>
              </a:pPr>
              <a:r>
                <a:rPr lang="en-US" sz="3211">
                  <a:solidFill>
                    <a:srgbClr val="F6EE3C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Promoting equal rights for women online and offline.</a:t>
              </a: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666750" y="1971648"/>
            <a:ext cx="1438275" cy="48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840"/>
              </a:lnSpc>
              <a:spcBef>
                <a:spcPct val="0"/>
              </a:spcBef>
            </a:pPr>
            <a:r>
              <a:rPr lang="en-US" sz="3200">
                <a:solidFill>
                  <a:srgbClr val="324A1E"/>
                </a:solidFill>
                <a:latin typeface="Georgia Pro Condensed Light"/>
                <a:ea typeface="Georgia Pro Condensed Light"/>
                <a:cs typeface="Georgia Pro Condensed Light"/>
                <a:sym typeface="Georgia Pro Condensed Light"/>
              </a:rPr>
              <a:t>01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13611225" y="6934200"/>
            <a:ext cx="4010025" cy="2324736"/>
            <a:chOff x="0" y="0"/>
            <a:chExt cx="5346700" cy="3099648"/>
          </a:xfrm>
        </p:grpSpPr>
        <p:sp>
          <p:nvSpPr>
            <p:cNvPr name="TextBox 14" id="14"/>
            <p:cNvSpPr txBox="true"/>
            <p:nvPr/>
          </p:nvSpPr>
          <p:spPr>
            <a:xfrm rot="0">
              <a:off x="0" y="0"/>
              <a:ext cx="5346700" cy="685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079"/>
                </a:lnSpc>
                <a:spcBef>
                  <a:spcPct val="0"/>
                </a:spcBef>
              </a:pPr>
              <a:r>
                <a:rPr lang="en-US" sz="3399">
                  <a:solidFill>
                    <a:srgbClr val="324A1E"/>
                  </a:solidFill>
                  <a:latin typeface="Georgia Pro Condensed Light"/>
                  <a:ea typeface="Georgia Pro Condensed Light"/>
                  <a:cs typeface="Georgia Pro Condensed Light"/>
                  <a:sym typeface="Georgia Pro Condensed Light"/>
                </a:rPr>
                <a:t>Empowerment</a:t>
              </a:r>
            </a:p>
          </p:txBody>
        </p:sp>
        <p:sp>
          <p:nvSpPr>
            <p:cNvPr name="TextBox 15" id="15"/>
            <p:cNvSpPr txBox="true"/>
            <p:nvPr/>
          </p:nvSpPr>
          <p:spPr>
            <a:xfrm rot="0">
              <a:off x="0" y="893445"/>
              <a:ext cx="5346700" cy="220620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479"/>
                </a:lnSpc>
                <a:spcBef>
                  <a:spcPct val="0"/>
                </a:spcBef>
              </a:pPr>
              <a:r>
                <a:rPr lang="en-US" sz="3199">
                  <a:solidFill>
                    <a:srgbClr val="F6EE3C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Encouraging women to take control of their digital presence.</a:t>
              </a: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13277850" y="2214536"/>
            <a:ext cx="1438275" cy="48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840"/>
              </a:lnSpc>
              <a:spcBef>
                <a:spcPct val="0"/>
              </a:spcBef>
            </a:pPr>
            <a:r>
              <a:rPr lang="en-US" sz="3200" strike="noStrike" u="none">
                <a:solidFill>
                  <a:srgbClr val="324A1E"/>
                </a:solidFill>
                <a:latin typeface="Georgia Pro Condensed Light"/>
                <a:ea typeface="Georgia Pro Condensed Light"/>
                <a:cs typeface="Georgia Pro Condensed Light"/>
                <a:sym typeface="Georgia Pro Condensed Light"/>
              </a:rPr>
              <a:t>03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6740296" y="7624763"/>
            <a:ext cx="5371545" cy="2324736"/>
            <a:chOff x="0" y="0"/>
            <a:chExt cx="7162060" cy="3099648"/>
          </a:xfrm>
        </p:grpSpPr>
        <p:sp>
          <p:nvSpPr>
            <p:cNvPr name="TextBox 18" id="18"/>
            <p:cNvSpPr txBox="true"/>
            <p:nvPr/>
          </p:nvSpPr>
          <p:spPr>
            <a:xfrm rot="0">
              <a:off x="0" y="0"/>
              <a:ext cx="7162060" cy="685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079"/>
                </a:lnSpc>
                <a:spcBef>
                  <a:spcPct val="0"/>
                </a:spcBef>
              </a:pPr>
              <a:r>
                <a:rPr lang="en-US" sz="3399" strike="noStrike" u="none">
                  <a:solidFill>
                    <a:srgbClr val="324A1E"/>
                  </a:solidFill>
                  <a:latin typeface="Georgia Pro Condensed Light"/>
                  <a:ea typeface="Georgia Pro Condensed Light"/>
                  <a:cs typeface="Georgia Pro Condensed Light"/>
                  <a:sym typeface="Georgia Pro Condensed Light"/>
                </a:rPr>
                <a:t>Safety</a:t>
              </a:r>
            </a:p>
          </p:txBody>
        </p:sp>
        <p:sp>
          <p:nvSpPr>
            <p:cNvPr name="TextBox 19" id="19"/>
            <p:cNvSpPr txBox="true"/>
            <p:nvPr/>
          </p:nvSpPr>
          <p:spPr>
            <a:xfrm rot="0">
              <a:off x="0" y="893445"/>
              <a:ext cx="7162060" cy="220620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479"/>
                </a:lnSpc>
                <a:spcBef>
                  <a:spcPct val="0"/>
                </a:spcBef>
              </a:pPr>
              <a:r>
                <a:rPr lang="en-US" sz="3199" strike="noStrike" u="none">
                  <a:solidFill>
                    <a:srgbClr val="F6EE3C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Ensuring a protected environment for all users online.</a:t>
              </a: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7291387" y="2929425"/>
            <a:ext cx="1438275" cy="48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840"/>
              </a:lnSpc>
              <a:spcBef>
                <a:spcPct val="0"/>
              </a:spcBef>
            </a:pPr>
            <a:r>
              <a:rPr lang="en-US" sz="3200" strike="noStrike" u="none">
                <a:solidFill>
                  <a:srgbClr val="324A1E"/>
                </a:solidFill>
                <a:latin typeface="Georgia Pro Condensed Light"/>
                <a:ea typeface="Georgia Pro Condensed Light"/>
                <a:cs typeface="Georgia Pro Condensed Light"/>
                <a:sym typeface="Georgia Pro Condensed Light"/>
              </a:rPr>
              <a:t>02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345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991600" y="666750"/>
            <a:ext cx="9296400" cy="9620250"/>
            <a:chOff x="0" y="0"/>
            <a:chExt cx="957635" cy="99099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57635" cy="990995"/>
            </a:xfrm>
            <a:custGeom>
              <a:avLst/>
              <a:gdLst/>
              <a:ahLst/>
              <a:cxnLst/>
              <a:rect r="r" b="b" t="t" l="l"/>
              <a:pathLst>
                <a:path h="990995" w="957635">
                  <a:moveTo>
                    <a:pt x="0" y="0"/>
                  </a:moveTo>
                  <a:lnTo>
                    <a:pt x="957635" y="0"/>
                  </a:lnTo>
                  <a:lnTo>
                    <a:pt x="957635" y="990995"/>
                  </a:lnTo>
                  <a:lnTo>
                    <a:pt x="0" y="990995"/>
                  </a:lnTo>
                  <a:close/>
                </a:path>
              </a:pathLst>
            </a:custGeom>
            <a:blipFill>
              <a:blip r:embed="rId2"/>
              <a:stretch>
                <a:fillRect l="0" t="-69" r="0" b="-69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666750" y="723900"/>
            <a:ext cx="6886575" cy="2034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920"/>
              </a:lnSpc>
            </a:pPr>
            <a:r>
              <a:rPr lang="en-US" sz="7200">
                <a:solidFill>
                  <a:srgbClr val="D8D7CC"/>
                </a:solidFill>
                <a:latin typeface="Georgia Pro Condensed Light"/>
                <a:ea typeface="Georgia Pro Condensed Light"/>
                <a:cs typeface="Georgia Pro Condensed Light"/>
                <a:sym typeface="Georgia Pro Condensed Light"/>
              </a:rPr>
              <a:t>Our Funding Request</a:t>
            </a:r>
          </a:p>
        </p:txBody>
      </p:sp>
      <p:sp>
        <p:nvSpPr>
          <p:cNvPr name="AutoShape 5" id="5"/>
          <p:cNvSpPr/>
          <p:nvPr/>
        </p:nvSpPr>
        <p:spPr>
          <a:xfrm flipV="true">
            <a:off x="666750" y="9625012"/>
            <a:ext cx="5753100" cy="0"/>
          </a:xfrm>
          <a:prstGeom prst="line">
            <a:avLst/>
          </a:prstGeom>
          <a:ln cap="flat" w="9525">
            <a:solidFill>
              <a:srgbClr val="D8D7C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6" id="6"/>
          <p:cNvSpPr txBox="true"/>
          <p:nvPr/>
        </p:nvSpPr>
        <p:spPr>
          <a:xfrm rot="0">
            <a:off x="666750" y="3794124"/>
            <a:ext cx="7773963" cy="49307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899"/>
              </a:lnSpc>
            </a:pPr>
            <a:r>
              <a:rPr lang="en-US" sz="3499">
                <a:solidFill>
                  <a:srgbClr val="D8D7CC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To successfully develop and expand our game, we seek funding for </a:t>
            </a:r>
            <a:r>
              <a:rPr lang="en-US" b="true" sz="3499">
                <a:solidFill>
                  <a:srgbClr val="D8D7CC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enhancements, marketing, and community outreach.</a:t>
            </a:r>
            <a:r>
              <a:rPr lang="en-US" sz="3499">
                <a:solidFill>
                  <a:srgbClr val="D8D7CC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Investment will enable us to create impactful changes, improve user experience, and broaden our reach in combating digital abuse against women and girls.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345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666750" y="8277738"/>
            <a:ext cx="16954500" cy="0"/>
          </a:xfrm>
          <a:prstGeom prst="line">
            <a:avLst/>
          </a:prstGeom>
          <a:ln cap="flat" w="19050">
            <a:solidFill>
              <a:srgbClr val="324A1E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" id="3"/>
          <p:cNvGrpSpPr/>
          <p:nvPr/>
        </p:nvGrpSpPr>
        <p:grpSpPr>
          <a:xfrm rot="0">
            <a:off x="6419850" y="0"/>
            <a:ext cx="11868150" cy="6034088"/>
            <a:chOff x="0" y="0"/>
            <a:chExt cx="1598656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598656" cy="812800"/>
            </a:xfrm>
            <a:custGeom>
              <a:avLst/>
              <a:gdLst/>
              <a:ahLst/>
              <a:cxnLst/>
              <a:rect r="r" b="b" t="t" l="l"/>
              <a:pathLst>
                <a:path h="812800" w="1598656">
                  <a:moveTo>
                    <a:pt x="0" y="0"/>
                  </a:moveTo>
                  <a:lnTo>
                    <a:pt x="1598656" y="0"/>
                  </a:lnTo>
                  <a:lnTo>
                    <a:pt x="1598656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2"/>
              <a:stretch>
                <a:fillRect l="-91" t="0" r="-91" b="0"/>
              </a:stretch>
            </a:blipFill>
          </p:spPr>
        </p:sp>
      </p:grpSp>
      <p:sp>
        <p:nvSpPr>
          <p:cNvPr name="TextBox 5" id="5"/>
          <p:cNvSpPr txBox="true"/>
          <p:nvPr/>
        </p:nvSpPr>
        <p:spPr>
          <a:xfrm rot="0">
            <a:off x="666750" y="8910002"/>
            <a:ext cx="17975682" cy="6299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179"/>
              </a:lnSpc>
            </a:pPr>
            <a:r>
              <a:rPr lang="en-US" sz="3699" u="sng">
                <a:solidFill>
                  <a:srgbClr val="FFFFFF"/>
                </a:solidFill>
                <a:latin typeface="TT Interphases"/>
                <a:ea typeface="TT Interphases"/>
                <a:cs typeface="TT Interphases"/>
                <a:sym typeface="TT Interphases"/>
                <a:hlinkClick r:id="rId3" tooltip="https://hackathon-group-46-qfcde12ei-akoi100s-projects.vercel.app"/>
              </a:rPr>
              <a:t>HTTPS://HACKATHON-GROUP-46-QFCDE12EI-AKOI100S-PROJECTS.VERCEL.APP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66750" y="6953763"/>
            <a:ext cx="16591814" cy="20229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353"/>
              </a:lnSpc>
            </a:pPr>
            <a:r>
              <a:rPr lang="en-US" sz="5294" b="true">
                <a:solidFill>
                  <a:srgbClr val="FFFFFF"/>
                </a:solidFill>
                <a:latin typeface="Georgia Pro Condensed Bold"/>
                <a:ea typeface="Georgia Pro Condensed Bold"/>
                <a:cs typeface="Georgia Pro Condensed Bold"/>
                <a:sym typeface="Georgia Pro Condensed Bold"/>
              </a:rPr>
              <a:t>MIND A TOUR TO OUR GAME?</a:t>
            </a:r>
          </a:p>
          <a:p>
            <a:pPr algn="l">
              <a:lnSpc>
                <a:spcPts val="4826"/>
              </a:lnSpc>
            </a:pPr>
          </a:p>
          <a:p>
            <a:pPr algn="l" marL="0" indent="0" lvl="0">
              <a:lnSpc>
                <a:spcPts val="4826"/>
              </a:lnSpc>
            </a:pPr>
            <a:r>
              <a:rPr lang="en-US" b="true" sz="4022">
                <a:solidFill>
                  <a:srgbClr val="FFFFFF"/>
                </a:solidFill>
                <a:latin typeface="Georgia Pro Condensed Bold"/>
                <a:ea typeface="Georgia Pro Condensed Bold"/>
                <a:cs typeface="Georgia Pro Condensed Bold"/>
                <a:sym typeface="Georgia Pro Condensed Bold"/>
              </a:rPr>
              <a:t>click on the link below to access: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666750" y="666750"/>
            <a:ext cx="2686050" cy="2686050"/>
          </a:xfrm>
          <a:custGeom>
            <a:avLst/>
            <a:gdLst/>
            <a:ahLst/>
            <a:cxnLst/>
            <a:rect r="r" b="b" t="t" l="l"/>
            <a:pathLst>
              <a:path h="2686050" w="2686050">
                <a:moveTo>
                  <a:pt x="0" y="0"/>
                </a:moveTo>
                <a:lnTo>
                  <a:pt x="2686050" y="0"/>
                </a:lnTo>
                <a:lnTo>
                  <a:pt x="2686050" y="2686050"/>
                </a:lnTo>
                <a:lnTo>
                  <a:pt x="0" y="268605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description>Presentation - A Game to End Digital Abuse</dc:description>
  <dc:identifier>DAG6E8m9wWI</dc:identifier>
  <dcterms:modified xsi:type="dcterms:W3CDTF">2011-08-01T06:04:30Z</dcterms:modified>
  <cp:revision>1</cp:revision>
  <dc:title>Presentation - A Game to End Digital Abuse</dc:title>
</cp:coreProperties>
</file>